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82A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91695" cy="36576"/>
          </a:xfrm>
          <a:prstGeom prst="rect">
            <a:avLst/>
          </a:prstGeom>
          <a:solidFill>
            <a:srgbClr val="C4B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418320" y="182880"/>
            <a:ext cx="2286000" cy="2286000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058400" y="457200"/>
            <a:ext cx="1371600" cy="1371600"/>
          </a:xfrm>
          <a:prstGeom prst="ellipse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82880" y="4572000"/>
            <a:ext cx="2011680" cy="2011680"/>
          </a:xfrm>
          <a:prstGeom prst="ellipse">
            <a:avLst/>
          </a:prstGeom>
          <a:solidFill>
            <a:srgbClr val="FCE7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457200" y="5029200"/>
            <a:ext cx="1371600" cy="1371600"/>
          </a:xfrm>
          <a:prstGeom prst="ellipse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144000" y="5029200"/>
            <a:ext cx="73152" cy="73152"/>
          </a:xfrm>
          <a:prstGeom prst="ellipse">
            <a:avLst/>
          </a:prstGeom>
          <a:solidFill>
            <a:srgbClr val="C4B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372600" y="5029200"/>
            <a:ext cx="73152" cy="73152"/>
          </a:xfrm>
          <a:prstGeom prst="ellipse">
            <a:avLst/>
          </a:prstGeom>
          <a:solidFill>
            <a:srgbClr val="C4B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601200" y="5029200"/>
            <a:ext cx="73152" cy="73152"/>
          </a:xfrm>
          <a:prstGeom prst="ellipse">
            <a:avLst/>
          </a:prstGeom>
          <a:solidFill>
            <a:srgbClr val="C4B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829800" y="5029200"/>
            <a:ext cx="73152" cy="73152"/>
          </a:xfrm>
          <a:prstGeom prst="ellipse">
            <a:avLst/>
          </a:prstGeom>
          <a:solidFill>
            <a:srgbClr val="C4B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144000" y="5257800"/>
            <a:ext cx="73152" cy="73152"/>
          </a:xfrm>
          <a:prstGeom prst="ellipse">
            <a:avLst/>
          </a:prstGeom>
          <a:solidFill>
            <a:srgbClr val="C4B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9372600" y="5257800"/>
            <a:ext cx="73152" cy="73152"/>
          </a:xfrm>
          <a:prstGeom prst="ellipse">
            <a:avLst/>
          </a:prstGeom>
          <a:solidFill>
            <a:srgbClr val="C4B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601200" y="5257800"/>
            <a:ext cx="73152" cy="73152"/>
          </a:xfrm>
          <a:prstGeom prst="ellipse">
            <a:avLst/>
          </a:prstGeom>
          <a:solidFill>
            <a:srgbClr val="C4B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829800" y="5257800"/>
            <a:ext cx="73152" cy="73152"/>
          </a:xfrm>
          <a:prstGeom prst="ellipse">
            <a:avLst/>
          </a:prstGeom>
          <a:solidFill>
            <a:srgbClr val="C4B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144000" y="5486400"/>
            <a:ext cx="73152" cy="73152"/>
          </a:xfrm>
          <a:prstGeom prst="ellipse">
            <a:avLst/>
          </a:prstGeom>
          <a:solidFill>
            <a:srgbClr val="C4B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372600" y="5486400"/>
            <a:ext cx="73152" cy="73152"/>
          </a:xfrm>
          <a:prstGeom prst="ellipse">
            <a:avLst/>
          </a:prstGeom>
          <a:solidFill>
            <a:srgbClr val="C4B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9601200" y="5486400"/>
            <a:ext cx="73152" cy="73152"/>
          </a:xfrm>
          <a:prstGeom prst="ellipse">
            <a:avLst/>
          </a:prstGeom>
          <a:solidFill>
            <a:srgbClr val="C4B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829800" y="5486400"/>
            <a:ext cx="73152" cy="73152"/>
          </a:xfrm>
          <a:prstGeom prst="ellipse">
            <a:avLst/>
          </a:prstGeom>
          <a:solidFill>
            <a:srgbClr val="C4B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9144000" y="5715000"/>
            <a:ext cx="73152" cy="73152"/>
          </a:xfrm>
          <a:prstGeom prst="ellipse">
            <a:avLst/>
          </a:prstGeom>
          <a:solidFill>
            <a:srgbClr val="C4B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372600" y="5715000"/>
            <a:ext cx="73152" cy="73152"/>
          </a:xfrm>
          <a:prstGeom prst="ellipse">
            <a:avLst/>
          </a:prstGeom>
          <a:solidFill>
            <a:srgbClr val="C4B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601200" y="5715000"/>
            <a:ext cx="73152" cy="73152"/>
          </a:xfrm>
          <a:prstGeom prst="ellipse">
            <a:avLst/>
          </a:prstGeom>
          <a:solidFill>
            <a:srgbClr val="C4B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829800" y="5715000"/>
            <a:ext cx="73152" cy="73152"/>
          </a:xfrm>
          <a:prstGeom prst="ellipse">
            <a:avLst/>
          </a:prstGeom>
          <a:solidFill>
            <a:srgbClr val="C4B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052560" y="2468880"/>
            <a:ext cx="1097280" cy="1097280"/>
          </a:xfrm>
          <a:prstGeom prst="ellipse">
            <a:avLst/>
          </a:prstGeom>
          <a:solidFill>
            <a:srgbClr val="82A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FFFFFF"/>
                </a:solidFill>
                <a:latin typeface="Segoe UI Emoji"/>
              </a:defRPr>
            </a:pPr>
            <a:r>
              <a:t>🕐</a:t>
            </a:r>
          </a:p>
        </p:txBody>
      </p:sp>
      <p:sp>
        <p:nvSpPr>
          <p:cNvPr id="25" name="Oval 24"/>
          <p:cNvSpPr/>
          <p:nvPr/>
        </p:nvSpPr>
        <p:spPr>
          <a:xfrm>
            <a:off x="10149840" y="3383280"/>
            <a:ext cx="914400" cy="914400"/>
          </a:xfrm>
          <a:prstGeom prst="ellipse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FFFFFF"/>
                </a:solidFill>
                <a:latin typeface="Segoe UI Emoji"/>
              </a:defRPr>
            </a:pPr>
            <a:r>
              <a:t>📅</a:t>
            </a:r>
          </a:p>
        </p:txBody>
      </p:sp>
      <p:sp>
        <p:nvSpPr>
          <p:cNvPr id="26" name="Oval 25"/>
          <p:cNvSpPr/>
          <p:nvPr/>
        </p:nvSpPr>
        <p:spPr>
          <a:xfrm>
            <a:off x="8732520" y="3886200"/>
            <a:ext cx="822960" cy="822960"/>
          </a:xfrm>
          <a:prstGeom prst="ellipse">
            <a:avLst/>
          </a:prstGeom>
          <a:solidFill>
            <a:srgbClr val="F4A3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FFFFFF"/>
                </a:solidFill>
                <a:latin typeface="Segoe UI Emoji"/>
              </a:defRPr>
            </a:pPr>
            <a:r>
              <a:t>⏳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" y="109728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200" b="1">
                <a:solidFill>
                  <a:srgbClr val="2D3250"/>
                </a:solidFill>
                <a:latin typeface="Calibri"/>
              </a:defRPr>
            </a:pPr>
            <a:r>
              <a:t>Time Management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21031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8B5CF6"/>
                </a:solidFill>
                <a:latin typeface="Calibri"/>
              </a:defRPr>
            </a:pPr>
            <a:r>
              <a:t>Work Smart, Save Time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31520" y="2834640"/>
            <a:ext cx="2743200" cy="36576"/>
          </a:xfrm>
          <a:prstGeom prst="rect">
            <a:avLst/>
          </a:prstGeom>
          <a:solidFill>
            <a:srgbClr val="82A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31520" y="31089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6382FF"/>
                </a:solidFill>
                <a:latin typeface="Calibri"/>
              </a:defRPr>
            </a:pPr>
            <a:r>
              <a:t>Team Members</a:t>
            </a:r>
          </a:p>
        </p:txBody>
      </p:sp>
      <p:sp>
        <p:nvSpPr>
          <p:cNvPr id="31" name="Oval 30"/>
          <p:cNvSpPr/>
          <p:nvPr/>
        </p:nvSpPr>
        <p:spPr>
          <a:xfrm>
            <a:off x="822960" y="3621024"/>
            <a:ext cx="109728" cy="109728"/>
          </a:xfrm>
          <a:prstGeom prst="ellipse">
            <a:avLst/>
          </a:prstGeom>
          <a:solidFill>
            <a:srgbClr val="82A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51560" y="356616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05A78"/>
                </a:solidFill>
                <a:latin typeface="Calibri"/>
              </a:defRPr>
            </a:pPr>
            <a:r>
              <a:t>Prachi Pandey – S25CSEU1097</a:t>
            </a:r>
          </a:p>
        </p:txBody>
      </p:sp>
      <p:sp>
        <p:nvSpPr>
          <p:cNvPr id="33" name="Oval 32"/>
          <p:cNvSpPr/>
          <p:nvPr/>
        </p:nvSpPr>
        <p:spPr>
          <a:xfrm>
            <a:off x="822960" y="3986784"/>
            <a:ext cx="109728" cy="109728"/>
          </a:xfrm>
          <a:prstGeom prst="ellipse">
            <a:avLst/>
          </a:prstGeom>
          <a:solidFill>
            <a:srgbClr val="82A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51560" y="393192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05A78"/>
                </a:solidFill>
                <a:latin typeface="Calibri"/>
              </a:defRPr>
            </a:pPr>
            <a:r>
              <a:t>Nandini Arora – S25CSEU0631</a:t>
            </a:r>
          </a:p>
        </p:txBody>
      </p:sp>
      <p:sp>
        <p:nvSpPr>
          <p:cNvPr id="35" name="Oval 34"/>
          <p:cNvSpPr/>
          <p:nvPr/>
        </p:nvSpPr>
        <p:spPr>
          <a:xfrm>
            <a:off x="822960" y="4352544"/>
            <a:ext cx="109728" cy="109728"/>
          </a:xfrm>
          <a:prstGeom prst="ellipse">
            <a:avLst/>
          </a:prstGeom>
          <a:solidFill>
            <a:srgbClr val="82A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51560" y="429768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05A78"/>
                </a:solidFill>
                <a:latin typeface="Calibri"/>
              </a:defRPr>
            </a:pPr>
            <a:r>
              <a:t>Naitik Jain – S25CSEU0438</a:t>
            </a:r>
          </a:p>
        </p:txBody>
      </p:sp>
      <p:sp>
        <p:nvSpPr>
          <p:cNvPr id="37" name="Oval 36"/>
          <p:cNvSpPr/>
          <p:nvPr/>
        </p:nvSpPr>
        <p:spPr>
          <a:xfrm>
            <a:off x="822960" y="4718304"/>
            <a:ext cx="109728" cy="109728"/>
          </a:xfrm>
          <a:prstGeom prst="ellipse">
            <a:avLst/>
          </a:prstGeom>
          <a:solidFill>
            <a:srgbClr val="82A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51560" y="466344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05A78"/>
                </a:solidFill>
                <a:latin typeface="Calibri"/>
              </a:defRPr>
            </a:pPr>
            <a:r>
              <a:t>Tushar Joshi – S25CSEU2000</a:t>
            </a:r>
          </a:p>
        </p:txBody>
      </p:sp>
      <p:sp>
        <p:nvSpPr>
          <p:cNvPr id="39" name="Oval 38"/>
          <p:cNvSpPr/>
          <p:nvPr/>
        </p:nvSpPr>
        <p:spPr>
          <a:xfrm>
            <a:off x="5029200" y="3621024"/>
            <a:ext cx="109728" cy="109728"/>
          </a:xfrm>
          <a:prstGeom prst="ellipse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257800" y="356616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05A78"/>
                </a:solidFill>
                <a:latin typeface="Calibri"/>
              </a:defRPr>
            </a:pPr>
            <a:r>
              <a:t>Kushagra Tailor – S25CSEU1720</a:t>
            </a:r>
          </a:p>
        </p:txBody>
      </p:sp>
      <p:sp>
        <p:nvSpPr>
          <p:cNvPr id="41" name="Oval 40"/>
          <p:cNvSpPr/>
          <p:nvPr/>
        </p:nvSpPr>
        <p:spPr>
          <a:xfrm>
            <a:off x="5029200" y="3986784"/>
            <a:ext cx="109728" cy="109728"/>
          </a:xfrm>
          <a:prstGeom prst="ellipse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257800" y="393192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05A78"/>
                </a:solidFill>
                <a:latin typeface="Calibri"/>
              </a:defRPr>
            </a:pPr>
            <a:r>
              <a:t>Gaurav Dubey – A25ARIU0059</a:t>
            </a:r>
          </a:p>
        </p:txBody>
      </p:sp>
      <p:sp>
        <p:nvSpPr>
          <p:cNvPr id="43" name="Oval 42"/>
          <p:cNvSpPr/>
          <p:nvPr/>
        </p:nvSpPr>
        <p:spPr>
          <a:xfrm>
            <a:off x="5029200" y="4352544"/>
            <a:ext cx="109728" cy="109728"/>
          </a:xfrm>
          <a:prstGeom prst="ellipse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257800" y="429768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05A78"/>
                </a:solidFill>
                <a:latin typeface="Calibri"/>
              </a:defRPr>
            </a:pPr>
            <a:r>
              <a:t>Abhinav Bhatnagar – M25BBAU0065</a:t>
            </a:r>
          </a:p>
        </p:txBody>
      </p:sp>
      <p:sp>
        <p:nvSpPr>
          <p:cNvPr id="45" name="Oval 44"/>
          <p:cNvSpPr/>
          <p:nvPr/>
        </p:nvSpPr>
        <p:spPr>
          <a:xfrm>
            <a:off x="5029200" y="4718304"/>
            <a:ext cx="109728" cy="109728"/>
          </a:xfrm>
          <a:prstGeom prst="ellipse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257800" y="466344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05A78"/>
                </a:solidFill>
                <a:latin typeface="Calibri"/>
              </a:defRPr>
            </a:pPr>
            <a:r>
              <a:t>Arjun Singh – S25CSEU2221</a:t>
            </a:r>
          </a:p>
        </p:txBody>
      </p:sp>
      <p:sp>
        <p:nvSpPr>
          <p:cNvPr id="47" name="Rectangle 46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82A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0789920" y="63093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7882A0"/>
                </a:solidFill>
                <a:latin typeface="Calibri"/>
              </a:defRPr>
            </a:pPr>
            <a:r>
              <a:t>1 / 11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82A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864"/>
            <a:ext cx="12191695" cy="27432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875520" y="4572000"/>
            <a:ext cx="2011680" cy="2011680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365760"/>
            <a:ext cx="73152" cy="548640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32004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2D3250"/>
                </a:solidFill>
                <a:latin typeface="Calibri"/>
              </a:defRPr>
            </a:pPr>
            <a:r>
              <a:t>Introduction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86868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7882A0"/>
                </a:solidFill>
                <a:latin typeface="Calibri"/>
              </a:defRPr>
            </a:pPr>
            <a:r>
              <a:t>Understanding the basics of time management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645920"/>
            <a:ext cx="2377440" cy="2011680"/>
          </a:xfrm>
          <a:prstGeom prst="roundRect">
            <a:avLst/>
          </a:prstGeom>
          <a:solidFill>
            <a:srgbClr val="DBEAFE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645920"/>
            <a:ext cx="2377440" cy="54864"/>
          </a:xfrm>
          <a:prstGeom prst="rect">
            <a:avLst/>
          </a:prstGeom>
          <a:solidFill>
            <a:srgbClr val="82A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508760" y="1965960"/>
            <a:ext cx="640080" cy="640080"/>
          </a:xfrm>
          <a:prstGeom prst="ellipse">
            <a:avLst/>
          </a:prstGeom>
          <a:solidFill>
            <a:srgbClr val="82A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FFFFFF"/>
                </a:solidFill>
                <a:latin typeface="Segoe UI Emoji"/>
              </a:defRPr>
            </a:pPr>
            <a:r>
              <a:t>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743200"/>
            <a:ext cx="2011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2D3250"/>
                </a:solidFill>
                <a:latin typeface="Calibri"/>
              </a:defRPr>
            </a:pPr>
            <a:r>
              <a:t>Time management means</a:t>
            </a:r>
            <a:br/>
            <a:r>
              <a:t>using time wisely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91840" y="1645920"/>
            <a:ext cx="2377440" cy="2011680"/>
          </a:xfrm>
          <a:prstGeom prst="roundRect">
            <a:avLst/>
          </a:prstGeom>
          <a:solidFill>
            <a:srgbClr val="D1FAE5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291840" y="1645920"/>
            <a:ext cx="2377440" cy="54864"/>
          </a:xfrm>
          <a:prstGeom prst="rect">
            <a:avLst/>
          </a:prstGeom>
          <a:solidFill>
            <a:srgbClr val="86EF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160520" y="1965960"/>
            <a:ext cx="640080" cy="640080"/>
          </a:xfrm>
          <a:prstGeom prst="ellipse">
            <a:avLst/>
          </a:prstGeom>
          <a:solidFill>
            <a:srgbClr val="86EF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FFFFFF"/>
                </a:solidFill>
                <a:latin typeface="Segoe UI Emoji"/>
              </a:defRPr>
            </a:pPr>
            <a:r>
              <a:t>✅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74720" y="2743200"/>
            <a:ext cx="2011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2D3250"/>
                </a:solidFill>
                <a:latin typeface="Calibri"/>
              </a:defRPr>
            </a:pPr>
            <a:r>
              <a:t>Helps us finish work</a:t>
            </a:r>
            <a:br/>
            <a:r>
              <a:t>on time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43600" y="1645920"/>
            <a:ext cx="2377440" cy="2011680"/>
          </a:xfrm>
          <a:prstGeom prst="roundRect">
            <a:avLst/>
          </a:prstGeom>
          <a:solidFill>
            <a:srgbClr val="EDE9FE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943600" y="1645920"/>
            <a:ext cx="2377440" cy="54864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812280" y="1965960"/>
            <a:ext cx="640080" cy="640080"/>
          </a:xfrm>
          <a:prstGeom prst="ellipse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FFFFFF"/>
                </a:solidFill>
                <a:latin typeface="Segoe UI Emoji"/>
              </a:defRPr>
            </a:pPr>
            <a:r>
              <a:t>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26480" y="2743200"/>
            <a:ext cx="2011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2D3250"/>
                </a:solidFill>
                <a:latin typeface="Calibri"/>
              </a:defRPr>
            </a:pPr>
            <a:r>
              <a:t>Very important for</a:t>
            </a:r>
            <a:br/>
            <a:r>
              <a:t>students &amp; professionals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595359" y="1645920"/>
            <a:ext cx="2377440" cy="2011680"/>
          </a:xfrm>
          <a:prstGeom prst="roundRect">
            <a:avLst/>
          </a:prstGeom>
          <a:solidFill>
            <a:srgbClr val="FEF3C7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595359" y="1645920"/>
            <a:ext cx="2377440" cy="54864"/>
          </a:xfrm>
          <a:prstGeom prst="rect">
            <a:avLst/>
          </a:prstGeom>
          <a:solidFill>
            <a:srgbClr val="FBBF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464039" y="1965960"/>
            <a:ext cx="640080" cy="640080"/>
          </a:xfrm>
          <a:prstGeom prst="ellipse">
            <a:avLst/>
          </a:prstGeom>
          <a:solidFill>
            <a:srgbClr val="FBBF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FFFFFF"/>
                </a:solidFill>
                <a:latin typeface="Segoe UI Emoji"/>
              </a:defRPr>
            </a:pPr>
            <a:r>
              <a:t>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778239" y="2743200"/>
            <a:ext cx="2011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2D3250"/>
                </a:solidFill>
                <a:latin typeface="Calibri"/>
              </a:defRPr>
            </a:pPr>
            <a:r>
              <a:t>Leads to better</a:t>
            </a:r>
            <a:br/>
            <a:r>
              <a:t>results and growth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40233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8B5CF6"/>
                </a:solidFill>
                <a:latin typeface="Calibri"/>
              </a:defRPr>
            </a:pPr>
            <a:r>
              <a:t>⏱ Simple Timeline: How Time Management Works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371600" y="4983480"/>
            <a:ext cx="9144000" cy="36576"/>
          </a:xfrm>
          <a:prstGeom prst="rect">
            <a:avLst/>
          </a:prstGeom>
          <a:solidFill>
            <a:srgbClr val="82A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371600" y="4754880"/>
            <a:ext cx="457200" cy="457200"/>
          </a:xfrm>
          <a:prstGeom prst="ellipse">
            <a:avLst/>
          </a:prstGeom>
          <a:solidFill>
            <a:srgbClr val="82A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Segoe UI Emoji"/>
              </a:defRPr>
            </a:pPr>
            <a:r>
              <a:t>📋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88720" y="534924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2D3250"/>
                </a:solidFill>
                <a:latin typeface="Calibri"/>
              </a:defRPr>
            </a:pPr>
            <a:r>
              <a:t>Plan</a:t>
            </a:r>
          </a:p>
        </p:txBody>
      </p:sp>
      <p:sp>
        <p:nvSpPr>
          <p:cNvPr id="28" name="Oval 27"/>
          <p:cNvSpPr/>
          <p:nvPr/>
        </p:nvSpPr>
        <p:spPr>
          <a:xfrm>
            <a:off x="3657600" y="4754880"/>
            <a:ext cx="457200" cy="457200"/>
          </a:xfrm>
          <a:prstGeom prst="ellipse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Segoe UI Emoji"/>
              </a:defRPr>
            </a:pPr>
            <a:r>
              <a:t>🎯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474720" y="534924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2D3250"/>
                </a:solidFill>
                <a:latin typeface="Calibri"/>
              </a:defRPr>
            </a:pPr>
            <a:r>
              <a:t>Prioritize</a:t>
            </a:r>
          </a:p>
        </p:txBody>
      </p:sp>
      <p:sp>
        <p:nvSpPr>
          <p:cNvPr id="30" name="Oval 29"/>
          <p:cNvSpPr/>
          <p:nvPr/>
        </p:nvSpPr>
        <p:spPr>
          <a:xfrm>
            <a:off x="5943600" y="4754880"/>
            <a:ext cx="457200" cy="457200"/>
          </a:xfrm>
          <a:prstGeom prst="ellipse">
            <a:avLst/>
          </a:prstGeom>
          <a:solidFill>
            <a:srgbClr val="F4A3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Segoe UI Emoji"/>
              </a:defRPr>
            </a:pPr>
            <a:r>
              <a:t>⚡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760720" y="534924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2D3250"/>
                </a:solidFill>
                <a:latin typeface="Calibri"/>
              </a:defRPr>
            </a:pPr>
            <a:r>
              <a:t>Execute</a:t>
            </a:r>
          </a:p>
        </p:txBody>
      </p:sp>
      <p:sp>
        <p:nvSpPr>
          <p:cNvPr id="32" name="Oval 31"/>
          <p:cNvSpPr/>
          <p:nvPr/>
        </p:nvSpPr>
        <p:spPr>
          <a:xfrm>
            <a:off x="8229600" y="4754880"/>
            <a:ext cx="457200" cy="457200"/>
          </a:xfrm>
          <a:prstGeom prst="ellipse">
            <a:avLst/>
          </a:prstGeom>
          <a:solidFill>
            <a:srgbClr val="6ED2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Segoe UI Emoji"/>
              </a:defRPr>
            </a:pPr>
            <a:r>
              <a:t>🔍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046720" y="534924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2D3250"/>
                </a:solidFill>
                <a:latin typeface="Calibri"/>
              </a:defRPr>
            </a:pPr>
            <a:r>
              <a:t>Review</a:t>
            </a:r>
          </a:p>
        </p:txBody>
      </p:sp>
      <p:sp>
        <p:nvSpPr>
          <p:cNvPr id="34" name="Oval 33"/>
          <p:cNvSpPr/>
          <p:nvPr/>
        </p:nvSpPr>
        <p:spPr>
          <a:xfrm>
            <a:off x="10515600" y="4754880"/>
            <a:ext cx="457200" cy="457200"/>
          </a:xfrm>
          <a:prstGeom prst="ellipse">
            <a:avLst/>
          </a:prstGeom>
          <a:solidFill>
            <a:srgbClr val="86EF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Segoe UI Emoji"/>
              </a:defRPr>
            </a:pPr>
            <a:r>
              <a:t>🚀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332720" y="534924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2D3250"/>
                </a:solidFill>
                <a:latin typeface="Calibri"/>
              </a:defRPr>
            </a:pPr>
            <a:r>
              <a:t>Improve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789920" y="63093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7882A0"/>
                </a:solidFill>
                <a:latin typeface="Calibri"/>
              </a:defRPr>
            </a:pPr>
            <a:r>
              <a:t>2 / 11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82A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864"/>
            <a:ext cx="12191695" cy="27432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365760"/>
            <a:ext cx="73152" cy="548640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32004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2D3250"/>
                </a:solidFill>
                <a:latin typeface="Calibri"/>
              </a:defRPr>
            </a:pPr>
            <a:r>
              <a:t>Importance of Time Management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86868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7882A0"/>
                </a:solidFill>
                <a:latin typeface="Calibri"/>
              </a:defRPr>
            </a:pPr>
            <a:r>
              <a:t>Why it matters for your success</a:t>
            </a:r>
          </a:p>
        </p:txBody>
      </p:sp>
      <p:sp>
        <p:nvSpPr>
          <p:cNvPr id="7" name="Oval 6"/>
          <p:cNvSpPr/>
          <p:nvPr/>
        </p:nvSpPr>
        <p:spPr>
          <a:xfrm>
            <a:off x="804672" y="1536192"/>
            <a:ext cx="585216" cy="585216"/>
          </a:xfrm>
          <a:prstGeom prst="ellipse">
            <a:avLst/>
          </a:prstGeom>
          <a:solidFill>
            <a:srgbClr val="82A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Segoe UI Emoji"/>
              </a:defRPr>
            </a:pPr>
            <a:r>
              <a:t>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155448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2D3250"/>
                </a:solidFill>
                <a:latin typeface="Calibri"/>
              </a:defRPr>
            </a:pPr>
            <a:r>
              <a:t>Helps Save Time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187452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882A0"/>
                </a:solidFill>
                <a:latin typeface="Calibri"/>
              </a:defRPr>
            </a:pPr>
            <a:r>
              <a:t>Finish tasks faster with proper planning</a:t>
            </a:r>
          </a:p>
        </p:txBody>
      </p:sp>
      <p:sp>
        <p:nvSpPr>
          <p:cNvPr id="10" name="Oval 9"/>
          <p:cNvSpPr/>
          <p:nvPr/>
        </p:nvSpPr>
        <p:spPr>
          <a:xfrm>
            <a:off x="804672" y="2679192"/>
            <a:ext cx="585216" cy="585216"/>
          </a:xfrm>
          <a:prstGeom prst="ellipse">
            <a:avLst/>
          </a:prstGeom>
          <a:solidFill>
            <a:srgbClr val="86EF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Segoe UI Emoji"/>
              </a:defRPr>
            </a:pPr>
            <a:r>
              <a:t>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45920" y="269748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2D3250"/>
                </a:solidFill>
                <a:latin typeface="Calibri"/>
              </a:defRPr>
            </a:pPr>
            <a:r>
              <a:t>Reduces Stress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45920" y="301752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882A0"/>
                </a:solidFill>
                <a:latin typeface="Calibri"/>
              </a:defRPr>
            </a:pPr>
            <a:r>
              <a:t>Less worry about deadlines</a:t>
            </a:r>
          </a:p>
        </p:txBody>
      </p:sp>
      <p:sp>
        <p:nvSpPr>
          <p:cNvPr id="13" name="Oval 12"/>
          <p:cNvSpPr/>
          <p:nvPr/>
        </p:nvSpPr>
        <p:spPr>
          <a:xfrm>
            <a:off x="804672" y="3822192"/>
            <a:ext cx="585216" cy="585216"/>
          </a:xfrm>
          <a:prstGeom prst="ellipse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Segoe UI Emoji"/>
              </a:defRPr>
            </a:pPr>
            <a:r>
              <a:t>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45920" y="384048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2D3250"/>
                </a:solidFill>
                <a:latin typeface="Calibri"/>
              </a:defRPr>
            </a:pPr>
            <a:r>
              <a:t>Improves Focus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45920" y="416052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882A0"/>
                </a:solidFill>
                <a:latin typeface="Calibri"/>
              </a:defRPr>
            </a:pPr>
            <a:r>
              <a:t>Stay on track with your goals</a:t>
            </a:r>
          </a:p>
        </p:txBody>
      </p:sp>
      <p:sp>
        <p:nvSpPr>
          <p:cNvPr id="16" name="Oval 15"/>
          <p:cNvSpPr/>
          <p:nvPr/>
        </p:nvSpPr>
        <p:spPr>
          <a:xfrm>
            <a:off x="804672" y="4965192"/>
            <a:ext cx="585216" cy="585216"/>
          </a:xfrm>
          <a:prstGeom prst="ellipse">
            <a:avLst/>
          </a:prstGeom>
          <a:solidFill>
            <a:srgbClr val="FBBF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Segoe UI Emoji"/>
              </a:defRPr>
            </a:pPr>
            <a:r>
              <a:t>🏆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45920" y="498348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2D3250"/>
                </a:solidFill>
                <a:latin typeface="Calibri"/>
              </a:defRPr>
            </a:pPr>
            <a:r>
              <a:t>Achieve Goals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45920" y="530352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882A0"/>
                </a:solidFill>
                <a:latin typeface="Calibri"/>
              </a:defRPr>
            </a:pPr>
            <a:r>
              <a:t>Reach your targets step by step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43600" y="1371600"/>
            <a:ext cx="5669280" cy="4754880"/>
          </a:xfrm>
          <a:prstGeom prst="roundRect">
            <a:avLst/>
          </a:prstGeom>
          <a:solidFill>
            <a:srgbClr val="F8F9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17920" y="15544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D3250"/>
                </a:solidFill>
                <a:latin typeface="Calibri"/>
              </a:defRPr>
            </a:pPr>
            <a:r>
              <a:t>📊 Productivity Increase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583680" y="4434840"/>
            <a:ext cx="914400" cy="960119"/>
          </a:xfrm>
          <a:prstGeom prst="roundRect">
            <a:avLst/>
          </a:prstGeom>
          <a:solidFill>
            <a:srgbClr val="F89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83680" y="41605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2D3250"/>
                </a:solidFill>
                <a:latin typeface="Calibri"/>
              </a:defRPr>
            </a:pPr>
            <a:r>
              <a:t>35%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40" y="5486400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505A78"/>
                </a:solidFill>
                <a:latin typeface="Calibri"/>
              </a:defRPr>
            </a:pPr>
            <a:r>
              <a:t>Without</a:t>
            </a:r>
            <a:br/>
            <a:r>
              <a:t>Planning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726680" y="3886200"/>
            <a:ext cx="914400" cy="1508760"/>
          </a:xfrm>
          <a:prstGeom prst="roundRect">
            <a:avLst/>
          </a:prstGeom>
          <a:solidFill>
            <a:srgbClr val="FBBF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26680" y="361188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2D3250"/>
                </a:solidFill>
                <a:latin typeface="Calibri"/>
              </a:defRPr>
            </a:pPr>
            <a:r>
              <a:t>55%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635240" y="5486400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505A78"/>
                </a:solidFill>
                <a:latin typeface="Calibri"/>
              </a:defRPr>
            </a:pPr>
            <a:r>
              <a:t>Basic</a:t>
            </a:r>
            <a:br/>
            <a:r>
              <a:t>Planning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869680" y="3337560"/>
            <a:ext cx="914400" cy="2057400"/>
          </a:xfrm>
          <a:prstGeom prst="roundRect">
            <a:avLst/>
          </a:prstGeom>
          <a:solidFill>
            <a:srgbClr val="93C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869680" y="3063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2D3250"/>
                </a:solidFill>
                <a:latin typeface="Calibri"/>
              </a:defRPr>
            </a:pPr>
            <a:r>
              <a:t>75%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778240" y="5486400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505A78"/>
                </a:solidFill>
                <a:latin typeface="Calibri"/>
              </a:defRPr>
            </a:pPr>
            <a:r>
              <a:t>To-Do</a:t>
            </a:r>
            <a:br/>
            <a:r>
              <a:t>List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0012680" y="2788920"/>
            <a:ext cx="914400" cy="2606040"/>
          </a:xfrm>
          <a:prstGeom prst="roundRect">
            <a:avLst/>
          </a:prstGeom>
          <a:solidFill>
            <a:srgbClr val="82A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012680" y="25146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2D3250"/>
                </a:solidFill>
                <a:latin typeface="Calibri"/>
              </a:defRPr>
            </a:pPr>
            <a:r>
              <a:t>95%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921240" y="5486400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505A78"/>
                </a:solidFill>
                <a:latin typeface="Calibri"/>
              </a:defRPr>
            </a:pPr>
            <a:r>
              <a:t>Full Time</a:t>
            </a:r>
            <a:br/>
            <a:r>
              <a:t>Mgmt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400800" y="5394960"/>
            <a:ext cx="484632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789920" y="63093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7882A0"/>
                </a:solidFill>
                <a:latin typeface="Calibri"/>
              </a:defRPr>
            </a:pPr>
            <a:r>
              <a:t>3 / 11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82A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864"/>
            <a:ext cx="12191695" cy="27432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365760"/>
            <a:ext cx="73152" cy="548640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32004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2D3250"/>
                </a:solidFill>
                <a:latin typeface="Calibri"/>
              </a:defRPr>
            </a:pPr>
            <a:r>
              <a:t>Common Problems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86868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7882A0"/>
                </a:solidFill>
                <a:latin typeface="Calibri"/>
              </a:defRPr>
            </a:pPr>
            <a:r>
              <a:t>Challenges that waste our time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554480"/>
            <a:ext cx="5303520" cy="2103120"/>
          </a:xfrm>
          <a:prstGeom prst="roundRect">
            <a:avLst/>
          </a:prstGeom>
          <a:solidFill>
            <a:srgbClr val="FCE7F3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40080" y="1554480"/>
            <a:ext cx="64008" cy="2103120"/>
          </a:xfrm>
          <a:prstGeom prst="roundRect">
            <a:avLst/>
          </a:prstGeom>
          <a:solidFill>
            <a:srgbClr val="F89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43000" y="2057400"/>
            <a:ext cx="822960" cy="822960"/>
          </a:xfrm>
          <a:prstGeom prst="ellipse">
            <a:avLst/>
          </a:prstGeom>
          <a:solidFill>
            <a:srgbClr val="F89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2600" b="1">
                <a:solidFill>
                  <a:srgbClr val="FFFFFF"/>
                </a:solidFill>
                <a:latin typeface="Segoe UI Emoji"/>
              </a:defRPr>
            </a:pPr>
            <a:r>
              <a:t>😴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94560" y="19202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D3250"/>
                </a:solidFill>
                <a:latin typeface="Calibri"/>
              </a:defRPr>
            </a:pPr>
            <a:r>
              <a:t>Procrastination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4560" y="2377440"/>
            <a:ext cx="3474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05A78"/>
                </a:solidFill>
                <a:latin typeface="Calibri"/>
              </a:defRPr>
            </a:pPr>
            <a:r>
              <a:t>Delaying work</a:t>
            </a:r>
            <a:br/>
            <a:r>
              <a:t>until last moment</a:t>
            </a:r>
          </a:p>
        </p:txBody>
      </p:sp>
      <p:sp>
        <p:nvSpPr>
          <p:cNvPr id="12" name="Oval 11"/>
          <p:cNvSpPr/>
          <p:nvPr/>
        </p:nvSpPr>
        <p:spPr>
          <a:xfrm>
            <a:off x="5394960" y="1828800"/>
            <a:ext cx="228600" cy="228600"/>
          </a:xfrm>
          <a:prstGeom prst="ellipse">
            <a:avLst/>
          </a:prstGeom>
          <a:solidFill>
            <a:srgbClr val="F89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035040" y="1554480"/>
            <a:ext cx="5303520" cy="2103120"/>
          </a:xfrm>
          <a:prstGeom prst="roundRect">
            <a:avLst/>
          </a:prstGeom>
          <a:solidFill>
            <a:srgbClr val="DBEAFE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035040" y="1554480"/>
            <a:ext cx="64008" cy="2103120"/>
          </a:xfrm>
          <a:prstGeom prst="roundRect">
            <a:avLst/>
          </a:prstGeom>
          <a:solidFill>
            <a:srgbClr val="82A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537960" y="2057400"/>
            <a:ext cx="822960" cy="822960"/>
          </a:xfrm>
          <a:prstGeom prst="ellipse">
            <a:avLst/>
          </a:prstGeom>
          <a:solidFill>
            <a:srgbClr val="82A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2600" b="1">
                <a:solidFill>
                  <a:srgbClr val="FFFFFF"/>
                </a:solidFill>
                <a:latin typeface="Segoe UI Emoji"/>
              </a:defRPr>
            </a:pPr>
            <a:r>
              <a:t>📱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89520" y="19202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D3250"/>
                </a:solidFill>
                <a:latin typeface="Calibri"/>
              </a:defRPr>
            </a:pPr>
            <a:r>
              <a:t>Too Much Phone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89520" y="2377440"/>
            <a:ext cx="3474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05A78"/>
                </a:solidFill>
                <a:latin typeface="Calibri"/>
              </a:defRPr>
            </a:pPr>
            <a:r>
              <a:t>Social media and</a:t>
            </a:r>
            <a:br/>
            <a:r>
              <a:t>endless scrolling</a:t>
            </a:r>
          </a:p>
        </p:txBody>
      </p:sp>
      <p:sp>
        <p:nvSpPr>
          <p:cNvPr id="18" name="Oval 17"/>
          <p:cNvSpPr/>
          <p:nvPr/>
        </p:nvSpPr>
        <p:spPr>
          <a:xfrm>
            <a:off x="10789920" y="1828800"/>
            <a:ext cx="228600" cy="228600"/>
          </a:xfrm>
          <a:prstGeom prst="ellipse">
            <a:avLst/>
          </a:prstGeom>
          <a:solidFill>
            <a:srgbClr val="82A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40080" y="3931920"/>
            <a:ext cx="5303520" cy="2103120"/>
          </a:xfrm>
          <a:prstGeom prst="roundRect">
            <a:avLst/>
          </a:prstGeom>
          <a:solidFill>
            <a:srgbClr val="FEF3C7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40080" y="3931920"/>
            <a:ext cx="64008" cy="2103120"/>
          </a:xfrm>
          <a:prstGeom prst="roundRect">
            <a:avLst/>
          </a:prstGeom>
          <a:solidFill>
            <a:srgbClr val="FBBF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143000" y="4434840"/>
            <a:ext cx="822960" cy="822960"/>
          </a:xfrm>
          <a:prstGeom prst="ellipse">
            <a:avLst/>
          </a:prstGeom>
          <a:solidFill>
            <a:srgbClr val="FBBF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2600" b="1">
                <a:solidFill>
                  <a:srgbClr val="FFFFFF"/>
                </a:solidFill>
                <a:latin typeface="Segoe UI Emoji"/>
              </a:defRPr>
            </a:pPr>
            <a:r>
              <a:t>📋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194560" y="42976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D3250"/>
                </a:solidFill>
                <a:latin typeface="Calibri"/>
              </a:defRPr>
            </a:pPr>
            <a:r>
              <a:t>No Planning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94560" y="4754880"/>
            <a:ext cx="3474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05A78"/>
                </a:solidFill>
                <a:latin typeface="Calibri"/>
              </a:defRPr>
            </a:pPr>
            <a:r>
              <a:t>Starting work without</a:t>
            </a:r>
            <a:br/>
            <a:r>
              <a:t>a clear plan</a:t>
            </a:r>
          </a:p>
        </p:txBody>
      </p:sp>
      <p:sp>
        <p:nvSpPr>
          <p:cNvPr id="24" name="Oval 23"/>
          <p:cNvSpPr/>
          <p:nvPr/>
        </p:nvSpPr>
        <p:spPr>
          <a:xfrm>
            <a:off x="5394960" y="4206240"/>
            <a:ext cx="228600" cy="228600"/>
          </a:xfrm>
          <a:prstGeom prst="ellipse">
            <a:avLst/>
          </a:prstGeom>
          <a:solidFill>
            <a:srgbClr val="FBBF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035040" y="3931920"/>
            <a:ext cx="5303520" cy="2103120"/>
          </a:xfrm>
          <a:prstGeom prst="roundRect">
            <a:avLst/>
          </a:prstGeom>
          <a:solidFill>
            <a:srgbClr val="EDE9FE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035040" y="3931920"/>
            <a:ext cx="64008" cy="2103120"/>
          </a:xfrm>
          <a:prstGeom prst="round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537960" y="4434840"/>
            <a:ext cx="822960" cy="822960"/>
          </a:xfrm>
          <a:prstGeom prst="ellipse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2600" b="1">
                <a:solidFill>
                  <a:srgbClr val="FFFFFF"/>
                </a:solidFill>
                <a:latin typeface="Segoe UI Emoji"/>
              </a:defRPr>
            </a:pPr>
            <a:r>
              <a:t>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89520" y="42976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D3250"/>
                </a:solidFill>
                <a:latin typeface="Calibri"/>
              </a:defRPr>
            </a:pPr>
            <a:r>
              <a:t>Priority Confusion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89520" y="4754880"/>
            <a:ext cx="3474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05A78"/>
                </a:solidFill>
                <a:latin typeface="Calibri"/>
              </a:defRPr>
            </a:pPr>
            <a:r>
              <a:t>Not knowing what</a:t>
            </a:r>
            <a:br/>
            <a:r>
              <a:t>to do first</a:t>
            </a:r>
          </a:p>
        </p:txBody>
      </p:sp>
      <p:sp>
        <p:nvSpPr>
          <p:cNvPr id="30" name="Oval 29"/>
          <p:cNvSpPr/>
          <p:nvPr/>
        </p:nvSpPr>
        <p:spPr>
          <a:xfrm>
            <a:off x="10789920" y="4206240"/>
            <a:ext cx="228600" cy="228600"/>
          </a:xfrm>
          <a:prstGeom prst="ellipse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5623560" y="2926080"/>
            <a:ext cx="548640" cy="548640"/>
          </a:xfrm>
          <a:prstGeom prst="ellipse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623560" y="297180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2D3250"/>
                </a:solidFill>
                <a:latin typeface="Calibri"/>
              </a:defRPr>
            </a:pPr>
            <a:r>
              <a:t>⚠️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789920" y="63093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7882A0"/>
                </a:solidFill>
                <a:latin typeface="Calibri"/>
              </a:defRPr>
            </a:pPr>
            <a:r>
              <a:t>4 / 11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82A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864"/>
            <a:ext cx="12191695" cy="27432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365760"/>
            <a:ext cx="73152" cy="548640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32004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2D3250"/>
                </a:solidFill>
                <a:latin typeface="Calibri"/>
              </a:defRPr>
            </a:pPr>
            <a:r>
              <a:t>Key Techniques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86868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7882A0"/>
                </a:solidFill>
                <a:latin typeface="Calibri"/>
              </a:defRPr>
            </a:pPr>
            <a:r>
              <a:t>Simple steps to manage your time better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645920"/>
            <a:ext cx="2011680" cy="3474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645920"/>
            <a:ext cx="2011680" cy="54864"/>
          </a:xfrm>
          <a:prstGeom prst="rect">
            <a:avLst/>
          </a:prstGeom>
          <a:solidFill>
            <a:srgbClr val="82A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88720" y="1920240"/>
            <a:ext cx="548640" cy="548640"/>
          </a:xfrm>
          <a:prstGeom prst="ellipse">
            <a:avLst/>
          </a:prstGeom>
          <a:solidFill>
            <a:srgbClr val="82A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Segoe UI Emoji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65176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0">
                <a:solidFill>
                  <a:srgbClr val="2D3250"/>
                </a:solidFill>
                <a:latin typeface="Calibri"/>
              </a:defRPr>
            </a:pPr>
            <a:r>
              <a:t>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3200400"/>
            <a:ext cx="1737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2D3250"/>
                </a:solidFill>
                <a:latin typeface="Calibri"/>
              </a:defRPr>
            </a:pPr>
            <a:r>
              <a:t>Make a</a:t>
            </a:r>
            <a:br/>
            <a:r>
              <a:t>To-Do List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3931920"/>
            <a:ext cx="1737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505A78"/>
                </a:solidFill>
                <a:latin typeface="Calibri"/>
              </a:defRPr>
            </a:pPr>
            <a:r>
              <a:t>Write down all</a:t>
            </a:r>
            <a:br/>
            <a:r>
              <a:t>your tasks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14600" y="301752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82AAFF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788920" y="1645920"/>
            <a:ext cx="2011680" cy="3474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788920" y="1645920"/>
            <a:ext cx="2011680" cy="54864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520440" y="1920240"/>
            <a:ext cx="548640" cy="548640"/>
          </a:xfrm>
          <a:prstGeom prst="ellipse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Segoe UI Emoji"/>
              </a:defRPr>
            </a:pPr>
            <a: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88920" y="265176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0">
                <a:solidFill>
                  <a:srgbClr val="2D3250"/>
                </a:solidFill>
                <a:latin typeface="Calibri"/>
              </a:defRPr>
            </a:pPr>
            <a:r>
              <a:t>🎯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26080" y="3200400"/>
            <a:ext cx="1737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2D3250"/>
                </a:solidFill>
                <a:latin typeface="Calibri"/>
              </a:defRPr>
            </a:pPr>
            <a:r>
              <a:t>Set</a:t>
            </a:r>
            <a:br/>
            <a:r>
              <a:t>Priorities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26080" y="3931920"/>
            <a:ext cx="1737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505A78"/>
                </a:solidFill>
                <a:latin typeface="Calibri"/>
              </a:defRPr>
            </a:pPr>
            <a:r>
              <a:t>Decide what is</a:t>
            </a:r>
            <a:br/>
            <a:r>
              <a:t>most important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46320" y="301752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82AAFF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120640" y="1645920"/>
            <a:ext cx="2011680" cy="3474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120640" y="1645920"/>
            <a:ext cx="2011680" cy="54864"/>
          </a:xfrm>
          <a:prstGeom prst="rect">
            <a:avLst/>
          </a:prstGeom>
          <a:solidFill>
            <a:srgbClr val="F4A3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852160" y="1920240"/>
            <a:ext cx="548640" cy="548640"/>
          </a:xfrm>
          <a:prstGeom prst="ellipse">
            <a:avLst/>
          </a:prstGeom>
          <a:solidFill>
            <a:srgbClr val="F4A3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Segoe UI Emoji"/>
              </a:defRPr>
            </a:pPr>
            <a: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20640" y="265176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0">
                <a:solidFill>
                  <a:srgbClr val="2D3250"/>
                </a:solidFill>
                <a:latin typeface="Calibri"/>
              </a:defRPr>
            </a:pPr>
            <a:r>
              <a:t>⏰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57800" y="3200400"/>
            <a:ext cx="1737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2D3250"/>
                </a:solidFill>
                <a:latin typeface="Calibri"/>
              </a:defRPr>
            </a:pPr>
            <a:r>
              <a:t>Divide Time</a:t>
            </a:r>
            <a:br/>
            <a:r>
              <a:t>for Tasks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257800" y="3931920"/>
            <a:ext cx="1737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505A78"/>
                </a:solidFill>
                <a:latin typeface="Calibri"/>
              </a:defRPr>
            </a:pPr>
            <a:r>
              <a:t>Give each task</a:t>
            </a:r>
            <a:br/>
            <a:r>
              <a:t>a time slot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78040" y="301752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82AAFF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452359" y="1645920"/>
            <a:ext cx="2011680" cy="3474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452359" y="1645920"/>
            <a:ext cx="2011680" cy="54864"/>
          </a:xfrm>
          <a:prstGeom prst="rect">
            <a:avLst/>
          </a:prstGeom>
          <a:solidFill>
            <a:srgbClr val="6ED2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183879" y="1920240"/>
            <a:ext cx="548640" cy="548640"/>
          </a:xfrm>
          <a:prstGeom prst="ellipse">
            <a:avLst/>
          </a:prstGeom>
          <a:solidFill>
            <a:srgbClr val="6ED2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Segoe UI Emoji"/>
              </a:defRPr>
            </a:pPr>
            <a: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52359" y="265176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0">
                <a:solidFill>
                  <a:srgbClr val="2D3250"/>
                </a:solidFill>
                <a:latin typeface="Calibri"/>
              </a:defRPr>
            </a:pPr>
            <a:r>
              <a:t>📅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589519" y="3200400"/>
            <a:ext cx="1737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2D3250"/>
                </a:solidFill>
                <a:latin typeface="Calibri"/>
              </a:defRPr>
            </a:pPr>
            <a:r>
              <a:t>Set</a:t>
            </a:r>
            <a:br/>
            <a:r>
              <a:t>Deadlines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589519" y="3931920"/>
            <a:ext cx="1737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505A78"/>
                </a:solidFill>
                <a:latin typeface="Calibri"/>
              </a:defRPr>
            </a:pPr>
            <a:r>
              <a:t>Add a due date</a:t>
            </a:r>
            <a:br/>
            <a:r>
              <a:t>for each task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509759" y="301752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82AAFF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784080" y="1645920"/>
            <a:ext cx="2011680" cy="3474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784080" y="1645920"/>
            <a:ext cx="2011680" cy="54864"/>
          </a:xfrm>
          <a:prstGeom prst="rect">
            <a:avLst/>
          </a:prstGeom>
          <a:solidFill>
            <a:srgbClr val="86EF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0515600" y="1920240"/>
            <a:ext cx="548640" cy="548640"/>
          </a:xfrm>
          <a:prstGeom prst="ellipse">
            <a:avLst/>
          </a:prstGeom>
          <a:solidFill>
            <a:srgbClr val="86EF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Segoe UI Emoji"/>
              </a:defRPr>
            </a:pPr>
            <a:r>
              <a:t>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784080" y="265176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0">
                <a:solidFill>
                  <a:srgbClr val="2D3250"/>
                </a:solidFill>
                <a:latin typeface="Calibri"/>
              </a:defRPr>
            </a:pPr>
            <a:r>
              <a:t>✅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921240" y="3200400"/>
            <a:ext cx="1737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2D3250"/>
                </a:solidFill>
                <a:latin typeface="Calibri"/>
              </a:defRPr>
            </a:pPr>
            <a:r>
              <a:t>Review &amp;</a:t>
            </a:r>
            <a:br/>
            <a:r>
              <a:t>Improve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921240" y="3931920"/>
            <a:ext cx="1737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505A78"/>
                </a:solidFill>
                <a:latin typeface="Calibri"/>
              </a:defRPr>
            </a:pPr>
            <a:r>
              <a:t>Check progress</a:t>
            </a:r>
            <a:br/>
            <a:r>
              <a:t>and adjust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57200" y="5486400"/>
            <a:ext cx="11247120" cy="914400"/>
          </a:xfrm>
          <a:prstGeom prst="round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31520" y="56692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6382FF"/>
                </a:solidFill>
                <a:latin typeface="Calibri"/>
              </a:defRPr>
            </a:pPr>
            <a:r>
              <a:t>✅ List Tasks    →    ✅ Prioritize    →    ✅ Allocate Time    →    ✅ Set Deadlines    →    ✅ Review Progress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789920" y="63093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7882A0"/>
                </a:solidFill>
                <a:latin typeface="Calibri"/>
              </a:defRPr>
            </a:pPr>
            <a:r>
              <a:t>5 / 11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82A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864"/>
            <a:ext cx="12191695" cy="27432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365760"/>
            <a:ext cx="73152" cy="548640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32004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2D3250"/>
                </a:solidFill>
                <a:latin typeface="Calibri"/>
              </a:defRPr>
            </a:pPr>
            <a:r>
              <a:t>Popular Methods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86868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7882A0"/>
                </a:solidFill>
                <a:latin typeface="Calibri"/>
              </a:defRPr>
            </a:pPr>
            <a:r>
              <a:t>Proven techniques used by successful people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554480"/>
            <a:ext cx="457200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554480"/>
            <a:ext cx="54864" cy="1828800"/>
          </a:xfrm>
          <a:prstGeom prst="rect">
            <a:avLst/>
          </a:prstGeom>
          <a:solidFill>
            <a:srgbClr val="F89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22960" y="2011680"/>
            <a:ext cx="731520" cy="731520"/>
          </a:xfrm>
          <a:prstGeom prst="ellipse">
            <a:avLst/>
          </a:prstGeom>
          <a:solidFill>
            <a:srgbClr val="F89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FFFFFF"/>
                </a:solidFill>
                <a:latin typeface="Segoe UI Emoji"/>
              </a:defRPr>
            </a:pPr>
            <a:r>
              <a:t>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182880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D3250"/>
                </a:solidFill>
                <a:latin typeface="Calibri"/>
              </a:defRPr>
            </a:pPr>
            <a:r>
              <a:t>Pomodoro Technique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2286000"/>
            <a:ext cx="29260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05A78"/>
                </a:solidFill>
                <a:latin typeface="Calibri"/>
              </a:defRPr>
            </a:pPr>
            <a:r>
              <a:t>Work for 25 min + 5 min break</a:t>
            </a:r>
            <a:br/>
            <a:r>
              <a:t>Stay focused in short bursts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3657600"/>
            <a:ext cx="457200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" y="3657600"/>
            <a:ext cx="54864" cy="1828800"/>
          </a:xfrm>
          <a:prstGeom prst="rect">
            <a:avLst/>
          </a:prstGeom>
          <a:solidFill>
            <a:srgbClr val="82A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22960" y="4114800"/>
            <a:ext cx="731520" cy="731520"/>
          </a:xfrm>
          <a:prstGeom prst="ellipse">
            <a:avLst/>
          </a:prstGeom>
          <a:solidFill>
            <a:srgbClr val="82A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FFFFFF"/>
                </a:solidFill>
                <a:latin typeface="Segoe UI Emoji"/>
              </a:defRPr>
            </a:pPr>
            <a:r>
              <a:t>📊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28800" y="393192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D3250"/>
                </a:solidFill>
                <a:latin typeface="Calibri"/>
              </a:defRPr>
            </a:pPr>
            <a:r>
              <a:t>80/20 Rule (Pareto)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28800" y="4389120"/>
            <a:ext cx="29260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05A78"/>
                </a:solidFill>
                <a:latin typeface="Calibri"/>
              </a:defRPr>
            </a:pPr>
            <a:r>
              <a:t>Focus on 20% tasks that give</a:t>
            </a:r>
            <a:br/>
            <a:r>
              <a:t>80% of results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0" y="13716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2D3250"/>
                </a:solidFill>
                <a:latin typeface="Calibri"/>
              </a:defRPr>
            </a:pPr>
            <a:r>
              <a:t>📋 Eisenhower Matrix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0" y="1920240"/>
            <a:ext cx="3017520" cy="2103120"/>
          </a:xfrm>
          <a:prstGeom prst="roundRect">
            <a:avLst/>
          </a:prstGeom>
          <a:solidFill>
            <a:srgbClr val="FCE7F3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669280" y="1920240"/>
            <a:ext cx="3017520" cy="45720"/>
          </a:xfrm>
          <a:prstGeom prst="rect">
            <a:avLst/>
          </a:prstGeom>
          <a:solidFill>
            <a:srgbClr val="F89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806440" y="205740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89696"/>
                </a:solidFill>
                <a:latin typeface="Calibri"/>
              </a:defRPr>
            </a:pPr>
            <a:r>
              <a:t>DO FIRST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06440" y="2377440"/>
            <a:ext cx="2743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505A78"/>
                </a:solidFill>
                <a:latin typeface="Calibri"/>
              </a:defRPr>
            </a:pPr>
            <a:r>
              <a:t>Urgent + Important</a:t>
            </a:r>
            <a:br/>
            <a:br/>
            <a:r>
              <a:t>• Crisis tasks</a:t>
            </a:r>
            <a:br/>
            <a:r>
              <a:t>• Deadlines today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823960" y="1920240"/>
            <a:ext cx="3017520" cy="2103120"/>
          </a:xfrm>
          <a:prstGeom prst="roundRect">
            <a:avLst/>
          </a:prstGeom>
          <a:solidFill>
            <a:srgbClr val="DBEAFE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823960" y="1920240"/>
            <a:ext cx="3017520" cy="45720"/>
          </a:xfrm>
          <a:prstGeom prst="rect">
            <a:avLst/>
          </a:prstGeom>
          <a:solidFill>
            <a:srgbClr val="82A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961120" y="205740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82AAFF"/>
                </a:solidFill>
                <a:latin typeface="Calibri"/>
              </a:defRPr>
            </a:pPr>
            <a:r>
              <a:t>SCHEDULE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61120" y="2377440"/>
            <a:ext cx="2743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505A78"/>
                </a:solidFill>
                <a:latin typeface="Calibri"/>
              </a:defRPr>
            </a:pPr>
            <a:r>
              <a:t>Not Urgent + Important</a:t>
            </a:r>
            <a:br/>
            <a:br/>
            <a:r>
              <a:t>• Study planning</a:t>
            </a:r>
            <a:br/>
            <a:r>
              <a:t>• Skill building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669280" y="4160520"/>
            <a:ext cx="3017520" cy="2103120"/>
          </a:xfrm>
          <a:prstGeom prst="roundRect">
            <a:avLst/>
          </a:prstGeom>
          <a:solidFill>
            <a:srgbClr val="FEF3C7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669280" y="4160520"/>
            <a:ext cx="3017520" cy="45720"/>
          </a:xfrm>
          <a:prstGeom prst="rect">
            <a:avLst/>
          </a:prstGeom>
          <a:solidFill>
            <a:srgbClr val="FBBF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806440" y="429768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BBF92"/>
                </a:solidFill>
                <a:latin typeface="Calibri"/>
              </a:defRPr>
            </a:pPr>
            <a:r>
              <a:t>DELEGATE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806440" y="4617720"/>
            <a:ext cx="2743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505A78"/>
                </a:solidFill>
                <a:latin typeface="Calibri"/>
              </a:defRPr>
            </a:pPr>
            <a:r>
              <a:t>Urgent + Not Important</a:t>
            </a:r>
            <a:br/>
            <a:br/>
            <a:r>
              <a:t>• Some emails</a:t>
            </a:r>
            <a:br/>
            <a:r>
              <a:t>• Phone calls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823960" y="4160520"/>
            <a:ext cx="3017520" cy="2103120"/>
          </a:xfrm>
          <a:prstGeom prst="roundRect">
            <a:avLst/>
          </a:prstGeom>
          <a:solidFill>
            <a:srgbClr val="EDE9FE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823960" y="4160520"/>
            <a:ext cx="3017520" cy="4572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961120" y="429768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A78BFA"/>
                </a:solidFill>
                <a:latin typeface="Calibri"/>
              </a:defRPr>
            </a:pPr>
            <a:r>
              <a:t>ELIMINATE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961120" y="4617720"/>
            <a:ext cx="2743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505A78"/>
                </a:solidFill>
                <a:latin typeface="Calibri"/>
              </a:defRPr>
            </a:pPr>
            <a:r>
              <a:t>Not Urgent + Not Important</a:t>
            </a:r>
            <a:br/>
            <a:br/>
            <a:r>
              <a:t>• Social media</a:t>
            </a:r>
            <a:br/>
            <a:r>
              <a:t>• Time wasters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943600" y="169164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7882A0"/>
                </a:solidFill>
                <a:latin typeface="Calibri"/>
              </a:defRPr>
            </a:pPr>
            <a:r>
              <a:t>← URGENT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961120" y="169164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7882A0"/>
                </a:solidFill>
                <a:latin typeface="Calibri"/>
              </a:defRPr>
            </a:pPr>
            <a:r>
              <a:t>NOT URGENT →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789920" y="63093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7882A0"/>
                </a:solidFill>
                <a:latin typeface="Calibri"/>
              </a:defRPr>
            </a:pPr>
            <a:r>
              <a:t>6 / 11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82A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864"/>
            <a:ext cx="12191695" cy="27432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365760"/>
            <a:ext cx="73152" cy="548640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32004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2D3250"/>
                </a:solidFill>
                <a:latin typeface="Calibri"/>
              </a:defRPr>
            </a:pPr>
            <a:r>
              <a:t>Tools for Time Management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86868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7882A0"/>
                </a:solidFill>
                <a:latin typeface="Calibri"/>
              </a:defRPr>
            </a:pPr>
            <a:r>
              <a:t>Digital tools that help you stay organized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554480"/>
            <a:ext cx="2651760" cy="4572000"/>
          </a:xfrm>
          <a:prstGeom prst="roundRect">
            <a:avLst/>
          </a:prstGeom>
          <a:solidFill>
            <a:srgbClr val="DBEAFE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554480"/>
            <a:ext cx="2651760" cy="54864"/>
          </a:xfrm>
          <a:prstGeom prst="rect">
            <a:avLst/>
          </a:prstGeom>
          <a:solidFill>
            <a:srgbClr val="82A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71600" y="1783080"/>
            <a:ext cx="822960" cy="822960"/>
          </a:xfrm>
          <a:prstGeom prst="ellipse">
            <a:avLst/>
          </a:prstGeom>
          <a:solidFill>
            <a:srgbClr val="82A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2600" b="1">
                <a:solidFill>
                  <a:srgbClr val="FFFFFF"/>
                </a:solidFill>
                <a:latin typeface="Segoe UI Emoji"/>
              </a:defRPr>
            </a:pPr>
            <a:r>
              <a:t>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743200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2D3250"/>
                </a:solidFill>
                <a:latin typeface="Calibri"/>
              </a:defRPr>
            </a:pPr>
            <a:r>
              <a:t>Google</a:t>
            </a:r>
            <a:br/>
            <a:r>
              <a:t>Calendar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291840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505A78"/>
                </a:solidFill>
                <a:latin typeface="Calibri"/>
              </a:defRPr>
            </a:pPr>
            <a:r>
              <a:t>Schedule events</a:t>
            </a:r>
            <a:br/>
            <a:r>
              <a:t>&amp; set reminders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3931920"/>
            <a:ext cx="210312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31520" y="4169664"/>
            <a:ext cx="91440" cy="91440"/>
          </a:xfrm>
          <a:prstGeom prst="ellipse">
            <a:avLst/>
          </a:prstGeom>
          <a:solidFill>
            <a:srgbClr val="82A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411480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05A78"/>
                </a:solidFill>
                <a:latin typeface="Calibri"/>
              </a:defRPr>
            </a:pPr>
            <a:r>
              <a:t>Free to use</a:t>
            </a:r>
          </a:p>
        </p:txBody>
      </p:sp>
      <p:sp>
        <p:nvSpPr>
          <p:cNvPr id="15" name="Oval 14"/>
          <p:cNvSpPr/>
          <p:nvPr/>
        </p:nvSpPr>
        <p:spPr>
          <a:xfrm>
            <a:off x="731520" y="4535424"/>
            <a:ext cx="91440" cy="91440"/>
          </a:xfrm>
          <a:prstGeom prst="ellipse">
            <a:avLst/>
          </a:prstGeom>
          <a:solidFill>
            <a:srgbClr val="82A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448056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05A78"/>
                </a:solidFill>
                <a:latin typeface="Calibri"/>
              </a:defRPr>
            </a:pPr>
            <a:r>
              <a:t>Syncs all devices</a:t>
            </a:r>
          </a:p>
        </p:txBody>
      </p:sp>
      <p:sp>
        <p:nvSpPr>
          <p:cNvPr id="17" name="Oval 16"/>
          <p:cNvSpPr/>
          <p:nvPr/>
        </p:nvSpPr>
        <p:spPr>
          <a:xfrm>
            <a:off x="731520" y="4901184"/>
            <a:ext cx="91440" cy="91440"/>
          </a:xfrm>
          <a:prstGeom prst="ellipse">
            <a:avLst/>
          </a:prstGeom>
          <a:solidFill>
            <a:srgbClr val="82A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0120" y="484632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05A78"/>
                </a:solidFill>
                <a:latin typeface="Calibri"/>
              </a:defRPr>
            </a:pPr>
            <a:r>
              <a:t>Color coding</a:t>
            </a:r>
          </a:p>
        </p:txBody>
      </p:sp>
      <p:sp>
        <p:nvSpPr>
          <p:cNvPr id="19" name="Oval 18"/>
          <p:cNvSpPr/>
          <p:nvPr/>
        </p:nvSpPr>
        <p:spPr>
          <a:xfrm>
            <a:off x="731520" y="5266944"/>
            <a:ext cx="91440" cy="91440"/>
          </a:xfrm>
          <a:prstGeom prst="ellipse">
            <a:avLst/>
          </a:prstGeom>
          <a:solidFill>
            <a:srgbClr val="82A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0120" y="521208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05A78"/>
                </a:solidFill>
                <a:latin typeface="Calibri"/>
              </a:defRPr>
            </a:pPr>
            <a:r>
              <a:t>Reminders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383280" y="1554480"/>
            <a:ext cx="2651760" cy="4572000"/>
          </a:xfrm>
          <a:prstGeom prst="roundRect">
            <a:avLst/>
          </a:prstGeom>
          <a:solidFill>
            <a:srgbClr val="EDE9FE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383280" y="1554480"/>
            <a:ext cx="2651760" cy="54864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4297680" y="1783080"/>
            <a:ext cx="822960" cy="822960"/>
          </a:xfrm>
          <a:prstGeom prst="ellipse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2600" b="1">
                <a:solidFill>
                  <a:srgbClr val="FFFFFF"/>
                </a:solidFill>
                <a:latin typeface="Segoe UI Emoji"/>
              </a:defRPr>
            </a:pPr>
            <a:r>
              <a:t>📝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474720" y="2743200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2D3250"/>
                </a:solidFill>
                <a:latin typeface="Calibri"/>
              </a:defRPr>
            </a:pPr>
            <a:r>
              <a:t>Notion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474720" y="3291840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505A78"/>
                </a:solidFill>
                <a:latin typeface="Calibri"/>
              </a:defRPr>
            </a:pPr>
            <a:r>
              <a:t>Notes, tasks &amp;</a:t>
            </a:r>
            <a:br/>
            <a:r>
              <a:t>project planning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0" y="3931920"/>
            <a:ext cx="210312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3657600" y="4169664"/>
            <a:ext cx="91440" cy="91440"/>
          </a:xfrm>
          <a:prstGeom prst="ellipse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886200" y="411480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05A78"/>
                </a:solidFill>
                <a:latin typeface="Calibri"/>
              </a:defRPr>
            </a:pPr>
            <a:r>
              <a:t>All-in-one tool</a:t>
            </a:r>
          </a:p>
        </p:txBody>
      </p:sp>
      <p:sp>
        <p:nvSpPr>
          <p:cNvPr id="29" name="Oval 28"/>
          <p:cNvSpPr/>
          <p:nvPr/>
        </p:nvSpPr>
        <p:spPr>
          <a:xfrm>
            <a:off x="3657600" y="4535424"/>
            <a:ext cx="91440" cy="91440"/>
          </a:xfrm>
          <a:prstGeom prst="ellipse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886200" y="448056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05A78"/>
                </a:solidFill>
                <a:latin typeface="Calibri"/>
              </a:defRPr>
            </a:pPr>
            <a:r>
              <a:t>Templates</a:t>
            </a:r>
          </a:p>
        </p:txBody>
      </p:sp>
      <p:sp>
        <p:nvSpPr>
          <p:cNvPr id="31" name="Oval 30"/>
          <p:cNvSpPr/>
          <p:nvPr/>
        </p:nvSpPr>
        <p:spPr>
          <a:xfrm>
            <a:off x="3657600" y="4901184"/>
            <a:ext cx="91440" cy="91440"/>
          </a:xfrm>
          <a:prstGeom prst="ellipse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886200" y="484632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05A78"/>
                </a:solidFill>
                <a:latin typeface="Calibri"/>
              </a:defRPr>
            </a:pPr>
            <a:r>
              <a:t>Team sharing</a:t>
            </a:r>
          </a:p>
        </p:txBody>
      </p:sp>
      <p:sp>
        <p:nvSpPr>
          <p:cNvPr id="33" name="Oval 32"/>
          <p:cNvSpPr/>
          <p:nvPr/>
        </p:nvSpPr>
        <p:spPr>
          <a:xfrm>
            <a:off x="3657600" y="5266944"/>
            <a:ext cx="91440" cy="91440"/>
          </a:xfrm>
          <a:prstGeom prst="ellipse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886200" y="521208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05A78"/>
                </a:solidFill>
                <a:latin typeface="Calibri"/>
              </a:defRPr>
            </a:pPr>
            <a:r>
              <a:t>Databases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309360" y="1554480"/>
            <a:ext cx="2651760" cy="4572000"/>
          </a:xfrm>
          <a:prstGeom prst="roundRect">
            <a:avLst/>
          </a:prstGeom>
          <a:solidFill>
            <a:srgbClr val="D1FAE5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309360" y="1554480"/>
            <a:ext cx="2651760" cy="54864"/>
          </a:xfrm>
          <a:prstGeom prst="rect">
            <a:avLst/>
          </a:prstGeom>
          <a:solidFill>
            <a:srgbClr val="86EF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7223760" y="1783080"/>
            <a:ext cx="822960" cy="822960"/>
          </a:xfrm>
          <a:prstGeom prst="ellipse">
            <a:avLst/>
          </a:prstGeom>
          <a:solidFill>
            <a:srgbClr val="86EF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2600" b="1">
                <a:solidFill>
                  <a:srgbClr val="FFFFFF"/>
                </a:solidFill>
                <a:latin typeface="Segoe UI Emoji"/>
              </a:defRPr>
            </a:pPr>
            <a:r>
              <a:t>✅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00800" y="2743200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2D3250"/>
                </a:solidFill>
                <a:latin typeface="Calibri"/>
              </a:defRPr>
            </a:pPr>
            <a:r>
              <a:t>To-Do</a:t>
            </a:r>
            <a:br/>
            <a:r>
              <a:t>Apps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00800" y="3291840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505A78"/>
                </a:solidFill>
                <a:latin typeface="Calibri"/>
              </a:defRPr>
            </a:pPr>
            <a:r>
              <a:t>Track daily tasks</a:t>
            </a:r>
            <a:br/>
            <a:r>
              <a:t>&amp; checklists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583680" y="3931920"/>
            <a:ext cx="210312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6583680" y="4169664"/>
            <a:ext cx="91440" cy="91440"/>
          </a:xfrm>
          <a:prstGeom prst="ellipse">
            <a:avLst/>
          </a:prstGeom>
          <a:solidFill>
            <a:srgbClr val="86EF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812280" y="411480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05A78"/>
                </a:solidFill>
                <a:latin typeface="Calibri"/>
              </a:defRPr>
            </a:pPr>
            <a:r>
              <a:t>Simple lists</a:t>
            </a:r>
          </a:p>
        </p:txBody>
      </p:sp>
      <p:sp>
        <p:nvSpPr>
          <p:cNvPr id="43" name="Oval 42"/>
          <p:cNvSpPr/>
          <p:nvPr/>
        </p:nvSpPr>
        <p:spPr>
          <a:xfrm>
            <a:off x="6583680" y="4535424"/>
            <a:ext cx="91440" cy="91440"/>
          </a:xfrm>
          <a:prstGeom prst="ellipse">
            <a:avLst/>
          </a:prstGeom>
          <a:solidFill>
            <a:srgbClr val="86EF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812280" y="448056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05A78"/>
                </a:solidFill>
                <a:latin typeface="Calibri"/>
              </a:defRPr>
            </a:pPr>
            <a:r>
              <a:t>Due dates</a:t>
            </a:r>
          </a:p>
        </p:txBody>
      </p:sp>
      <p:sp>
        <p:nvSpPr>
          <p:cNvPr id="45" name="Oval 44"/>
          <p:cNvSpPr/>
          <p:nvPr/>
        </p:nvSpPr>
        <p:spPr>
          <a:xfrm>
            <a:off x="6583680" y="4901184"/>
            <a:ext cx="91440" cy="91440"/>
          </a:xfrm>
          <a:prstGeom prst="ellipse">
            <a:avLst/>
          </a:prstGeom>
          <a:solidFill>
            <a:srgbClr val="86EF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812280" y="484632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05A78"/>
                </a:solidFill>
                <a:latin typeface="Calibri"/>
              </a:defRPr>
            </a:pPr>
            <a:r>
              <a:t>Priorities</a:t>
            </a:r>
          </a:p>
        </p:txBody>
      </p:sp>
      <p:sp>
        <p:nvSpPr>
          <p:cNvPr id="47" name="Oval 46"/>
          <p:cNvSpPr/>
          <p:nvPr/>
        </p:nvSpPr>
        <p:spPr>
          <a:xfrm>
            <a:off x="6583680" y="5266944"/>
            <a:ext cx="91440" cy="91440"/>
          </a:xfrm>
          <a:prstGeom prst="ellipse">
            <a:avLst/>
          </a:prstGeom>
          <a:solidFill>
            <a:srgbClr val="86EF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812280" y="521208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05A78"/>
                </a:solidFill>
                <a:latin typeface="Calibri"/>
              </a:defRPr>
            </a:pPr>
            <a:r>
              <a:t>Daily planner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9235440" y="1554480"/>
            <a:ext cx="2651760" cy="4572000"/>
          </a:xfrm>
          <a:prstGeom prst="roundRect">
            <a:avLst/>
          </a:prstGeom>
          <a:solidFill>
            <a:srgbClr val="FEF3C7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9235440" y="1554480"/>
            <a:ext cx="2651760" cy="54864"/>
          </a:xfrm>
          <a:prstGeom prst="rect">
            <a:avLst/>
          </a:prstGeom>
          <a:solidFill>
            <a:srgbClr val="FBBF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10149840" y="1783080"/>
            <a:ext cx="822960" cy="822960"/>
          </a:xfrm>
          <a:prstGeom prst="ellipse">
            <a:avLst/>
          </a:prstGeom>
          <a:solidFill>
            <a:srgbClr val="FBBF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2600" b="1">
                <a:solidFill>
                  <a:srgbClr val="FFFFFF"/>
                </a:solidFill>
                <a:latin typeface="Segoe UI Emoji"/>
              </a:defRPr>
            </a:pPr>
            <a:r>
              <a:t>⏱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326880" y="2743200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2D3250"/>
                </a:solidFill>
                <a:latin typeface="Calibri"/>
              </a:defRPr>
            </a:pPr>
            <a:r>
              <a:t>Pomodoro</a:t>
            </a:r>
            <a:br/>
            <a:r>
              <a:t>Timers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326880" y="3291840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505A78"/>
                </a:solidFill>
                <a:latin typeface="Calibri"/>
              </a:defRPr>
            </a:pPr>
            <a:r>
              <a:t>Focus timer with</a:t>
            </a:r>
            <a:br/>
            <a:r>
              <a:t>work + breaks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9509760" y="3931920"/>
            <a:ext cx="210312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9509760" y="4169664"/>
            <a:ext cx="91440" cy="91440"/>
          </a:xfrm>
          <a:prstGeom prst="ellipse">
            <a:avLst/>
          </a:prstGeom>
          <a:solidFill>
            <a:srgbClr val="FBBF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9738360" y="411480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05A78"/>
                </a:solidFill>
                <a:latin typeface="Calibri"/>
              </a:defRPr>
            </a:pPr>
            <a:r>
              <a:t>25 min focus</a:t>
            </a:r>
          </a:p>
        </p:txBody>
      </p:sp>
      <p:sp>
        <p:nvSpPr>
          <p:cNvPr id="57" name="Oval 56"/>
          <p:cNvSpPr/>
          <p:nvPr/>
        </p:nvSpPr>
        <p:spPr>
          <a:xfrm>
            <a:off x="9509760" y="4535424"/>
            <a:ext cx="91440" cy="91440"/>
          </a:xfrm>
          <a:prstGeom prst="ellipse">
            <a:avLst/>
          </a:prstGeom>
          <a:solidFill>
            <a:srgbClr val="FBBF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9738360" y="448056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05A78"/>
                </a:solidFill>
                <a:latin typeface="Calibri"/>
              </a:defRPr>
            </a:pPr>
            <a:r>
              <a:t>5 min breaks</a:t>
            </a:r>
          </a:p>
        </p:txBody>
      </p:sp>
      <p:sp>
        <p:nvSpPr>
          <p:cNvPr id="59" name="Oval 58"/>
          <p:cNvSpPr/>
          <p:nvPr/>
        </p:nvSpPr>
        <p:spPr>
          <a:xfrm>
            <a:off x="9509760" y="4901184"/>
            <a:ext cx="91440" cy="91440"/>
          </a:xfrm>
          <a:prstGeom prst="ellipse">
            <a:avLst/>
          </a:prstGeom>
          <a:solidFill>
            <a:srgbClr val="FBBF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9738360" y="484632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05A78"/>
                </a:solidFill>
                <a:latin typeface="Calibri"/>
              </a:defRPr>
            </a:pPr>
            <a:r>
              <a:t>Track sessions</a:t>
            </a:r>
          </a:p>
        </p:txBody>
      </p:sp>
      <p:sp>
        <p:nvSpPr>
          <p:cNvPr id="61" name="Oval 60"/>
          <p:cNvSpPr/>
          <p:nvPr/>
        </p:nvSpPr>
        <p:spPr>
          <a:xfrm>
            <a:off x="9509760" y="5266944"/>
            <a:ext cx="91440" cy="91440"/>
          </a:xfrm>
          <a:prstGeom prst="ellipse">
            <a:avLst/>
          </a:prstGeom>
          <a:solidFill>
            <a:srgbClr val="FBBF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9738360" y="521208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05A78"/>
                </a:solidFill>
                <a:latin typeface="Calibri"/>
              </a:defRPr>
            </a:pPr>
            <a:r>
              <a:t>Stay focused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0789920" y="63093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7882A0"/>
                </a:solidFill>
                <a:latin typeface="Calibri"/>
              </a:defRPr>
            </a:pPr>
            <a:r>
              <a:t>7 / 11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82A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864"/>
            <a:ext cx="12191695" cy="27432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365760"/>
            <a:ext cx="73152" cy="548640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32004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2D3250"/>
                </a:solidFill>
                <a:latin typeface="Calibri"/>
              </a:defRPr>
            </a:pPr>
            <a:r>
              <a:t>Tips for Students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86868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7882A0"/>
                </a:solidFill>
                <a:latin typeface="Calibri"/>
              </a:defRPr>
            </a:pPr>
            <a:r>
              <a:t>Easy habits to manage your time better</a:t>
            </a:r>
          </a:p>
        </p:txBody>
      </p:sp>
      <p:sp>
        <p:nvSpPr>
          <p:cNvPr id="7" name="Oval 6"/>
          <p:cNvSpPr/>
          <p:nvPr/>
        </p:nvSpPr>
        <p:spPr>
          <a:xfrm>
            <a:off x="9875520" y="182880"/>
            <a:ext cx="2011680" cy="2011680"/>
          </a:xfrm>
          <a:prstGeom prst="ellipse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57200" y="1371600"/>
            <a:ext cx="11247120" cy="914400"/>
          </a:xfrm>
          <a:prstGeom prst="roundRect">
            <a:avLst/>
          </a:prstGeom>
          <a:solidFill>
            <a:srgbClr val="F8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40080" y="1554480"/>
            <a:ext cx="411480" cy="411480"/>
          </a:xfrm>
          <a:prstGeom prst="roundRect">
            <a:avLst/>
          </a:prstGeom>
          <a:solidFill>
            <a:srgbClr val="82A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536192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146304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2D3250"/>
                </a:solidFill>
                <a:latin typeface="Calibri"/>
              </a:defRPr>
            </a:pPr>
            <a:r>
              <a:t>Do One Task at a Time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182880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05A78"/>
                </a:solidFill>
                <a:latin typeface="Calibri"/>
              </a:defRPr>
            </a:pPr>
            <a:r>
              <a:t>Multitasking reduces quality.</a:t>
            </a:r>
            <a:br/>
            <a:r>
              <a:t>Focus on a single task for best results.</a:t>
            </a:r>
          </a:p>
        </p:txBody>
      </p:sp>
      <p:sp>
        <p:nvSpPr>
          <p:cNvPr id="13" name="Oval 12"/>
          <p:cNvSpPr/>
          <p:nvPr/>
        </p:nvSpPr>
        <p:spPr>
          <a:xfrm>
            <a:off x="10698480" y="1508760"/>
            <a:ext cx="548640" cy="548640"/>
          </a:xfrm>
          <a:prstGeom prst="ellipse">
            <a:avLst/>
          </a:prstGeom>
          <a:solidFill>
            <a:srgbClr val="82A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Segoe UI Emoji"/>
              </a:defRPr>
            </a:pPr>
            <a:r>
              <a:t>🎯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2606040"/>
            <a:ext cx="411480" cy="411480"/>
          </a:xfrm>
          <a:prstGeom prst="roundRect">
            <a:avLst/>
          </a:prstGeom>
          <a:solidFill>
            <a:srgbClr val="86EF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2587752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251460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2D3250"/>
                </a:solidFill>
                <a:latin typeface="Calibri"/>
              </a:defRPr>
            </a:pPr>
            <a:r>
              <a:t>Take Small Breaks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80160" y="288036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05A78"/>
                </a:solidFill>
                <a:latin typeface="Calibri"/>
              </a:defRPr>
            </a:pPr>
            <a:r>
              <a:t>Short breaks help recharge your brain.</a:t>
            </a:r>
            <a:br/>
            <a:r>
              <a:t>Try 5-10 minutes between study sessions.</a:t>
            </a:r>
          </a:p>
        </p:txBody>
      </p:sp>
      <p:sp>
        <p:nvSpPr>
          <p:cNvPr id="18" name="Oval 17"/>
          <p:cNvSpPr/>
          <p:nvPr/>
        </p:nvSpPr>
        <p:spPr>
          <a:xfrm>
            <a:off x="10698480" y="2560320"/>
            <a:ext cx="548640" cy="548640"/>
          </a:xfrm>
          <a:prstGeom prst="ellipse">
            <a:avLst/>
          </a:prstGeom>
          <a:solidFill>
            <a:srgbClr val="86EF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Segoe UI Emoji"/>
              </a:defRPr>
            </a:pPr>
            <a:r>
              <a:t>☕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3474720"/>
            <a:ext cx="11247120" cy="914400"/>
          </a:xfrm>
          <a:prstGeom prst="roundRect">
            <a:avLst/>
          </a:prstGeom>
          <a:solidFill>
            <a:srgbClr val="F8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40080" y="3657600"/>
            <a:ext cx="411480" cy="411480"/>
          </a:xfrm>
          <a:prstGeom prst="round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3639312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80160" y="356616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2D3250"/>
                </a:solidFill>
                <a:latin typeface="Calibri"/>
              </a:defRPr>
            </a:pPr>
            <a:r>
              <a:t>Plan Your Day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80160" y="393192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05A78"/>
                </a:solidFill>
                <a:latin typeface="Calibri"/>
              </a:defRPr>
            </a:pPr>
            <a:r>
              <a:t>Spend 5 minutes each morning</a:t>
            </a:r>
            <a:br/>
            <a:r>
              <a:t>writing your plan for the day.</a:t>
            </a:r>
          </a:p>
        </p:txBody>
      </p:sp>
      <p:sp>
        <p:nvSpPr>
          <p:cNvPr id="24" name="Oval 23"/>
          <p:cNvSpPr/>
          <p:nvPr/>
        </p:nvSpPr>
        <p:spPr>
          <a:xfrm>
            <a:off x="10698480" y="3611880"/>
            <a:ext cx="548640" cy="548640"/>
          </a:xfrm>
          <a:prstGeom prst="ellipse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Segoe UI Emoji"/>
              </a:defRPr>
            </a:pPr>
            <a:r>
              <a:t>📋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4709159"/>
            <a:ext cx="411480" cy="411480"/>
          </a:xfrm>
          <a:prstGeom prst="roundRect">
            <a:avLst/>
          </a:prstGeom>
          <a:solidFill>
            <a:srgbClr val="F89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4690871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80160" y="4617719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2D3250"/>
                </a:solidFill>
                <a:latin typeface="Calibri"/>
              </a:defRPr>
            </a:pPr>
            <a:r>
              <a:t>Avoid Distractions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80160" y="4983479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05A78"/>
                </a:solidFill>
                <a:latin typeface="Calibri"/>
              </a:defRPr>
            </a:pPr>
            <a:r>
              <a:t>Keep phone away while studying.</a:t>
            </a:r>
            <a:br/>
            <a:r>
              <a:t>Find a quiet place to focus.</a:t>
            </a:r>
          </a:p>
        </p:txBody>
      </p:sp>
      <p:sp>
        <p:nvSpPr>
          <p:cNvPr id="29" name="Oval 28"/>
          <p:cNvSpPr/>
          <p:nvPr/>
        </p:nvSpPr>
        <p:spPr>
          <a:xfrm>
            <a:off x="10698480" y="4663439"/>
            <a:ext cx="548640" cy="548640"/>
          </a:xfrm>
          <a:prstGeom prst="ellipse">
            <a:avLst/>
          </a:prstGeom>
          <a:solidFill>
            <a:srgbClr val="F89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Segoe UI Emoji"/>
              </a:defRPr>
            </a:pPr>
            <a:r>
              <a:t>🔕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57200" y="5577840"/>
            <a:ext cx="11247120" cy="914400"/>
          </a:xfrm>
          <a:prstGeom prst="roundRect">
            <a:avLst/>
          </a:prstGeom>
          <a:solidFill>
            <a:srgbClr val="F8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640080" y="5760720"/>
            <a:ext cx="411480" cy="411480"/>
          </a:xfrm>
          <a:prstGeom prst="roundRect">
            <a:avLst/>
          </a:prstGeom>
          <a:solidFill>
            <a:srgbClr val="FBBF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0080" y="5742432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280160" y="566928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2D3250"/>
                </a:solidFill>
                <a:latin typeface="Calibri"/>
              </a:defRPr>
            </a:pPr>
            <a:r>
              <a:t>Set Small Goals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280160" y="60350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05A78"/>
                </a:solidFill>
                <a:latin typeface="Calibri"/>
              </a:defRPr>
            </a:pPr>
            <a:r>
              <a:t>Break big tasks into small steps.</a:t>
            </a:r>
            <a:br/>
            <a:r>
              <a:t>Celebrate each small win!</a:t>
            </a:r>
          </a:p>
        </p:txBody>
      </p:sp>
      <p:sp>
        <p:nvSpPr>
          <p:cNvPr id="35" name="Oval 34"/>
          <p:cNvSpPr/>
          <p:nvPr/>
        </p:nvSpPr>
        <p:spPr>
          <a:xfrm>
            <a:off x="10698480" y="5715000"/>
            <a:ext cx="548640" cy="548640"/>
          </a:xfrm>
          <a:prstGeom prst="ellipse">
            <a:avLst/>
          </a:prstGeom>
          <a:solidFill>
            <a:srgbClr val="FBBF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Segoe UI Emoji"/>
              </a:defRPr>
            </a:pPr>
            <a:r>
              <a:t>🏆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789920" y="63093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7882A0"/>
                </a:solidFill>
                <a:latin typeface="Calibri"/>
              </a:defRPr>
            </a:pPr>
            <a:r>
              <a:t>8 / 11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82A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864"/>
            <a:ext cx="12191695" cy="27432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365760"/>
            <a:ext cx="73152" cy="548640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32004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2D3250"/>
                </a:solidFill>
                <a:latin typeface="Calibri"/>
              </a:defRPr>
            </a:pPr>
            <a:r>
              <a:t>Real-Life Example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86868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7882A0"/>
                </a:solidFill>
                <a:latin typeface="Calibri"/>
              </a:defRPr>
            </a:pPr>
            <a:r>
              <a:t>A student's journey with time management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463040"/>
            <a:ext cx="5303520" cy="4754880"/>
          </a:xfrm>
          <a:prstGeom prst="roundRect">
            <a:avLst/>
          </a:prstGeom>
          <a:solidFill>
            <a:srgbClr val="FCE7F3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57200" y="1463040"/>
            <a:ext cx="5303520" cy="640080"/>
          </a:xfrm>
          <a:prstGeom prst="roundRect">
            <a:avLst/>
          </a:prstGeom>
          <a:solidFill>
            <a:srgbClr val="F89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572768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Calibri"/>
              </a:defRPr>
            </a:pPr>
            <a:r>
              <a:t>😰 BEFORE (No Time Management)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3774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05A78"/>
                </a:solidFill>
                <a:latin typeface="Calibri"/>
              </a:defRPr>
            </a:pPr>
            <a:r>
              <a:t>❌  Wakes up late, no plan for the day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9718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05A78"/>
                </a:solidFill>
                <a:latin typeface="Calibri"/>
              </a:defRPr>
            </a:pPr>
            <a:r>
              <a:t>❌  Scrolls phone for 2 hours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5661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05A78"/>
                </a:solidFill>
                <a:latin typeface="Calibri"/>
              </a:defRPr>
            </a:pPr>
            <a:r>
              <a:t>❌  Starts homework at night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41605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05A78"/>
                </a:solidFill>
                <a:latin typeface="Calibri"/>
              </a:defRPr>
            </a:pPr>
            <a:r>
              <a:t>❌  Feels stressed and tired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47548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05A78"/>
                </a:solidFill>
                <a:latin typeface="Calibri"/>
              </a:defRPr>
            </a:pPr>
            <a:r>
              <a:t>❌  Misses deadlines often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53492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05A78"/>
                </a:solidFill>
                <a:latin typeface="Calibri"/>
              </a:defRPr>
            </a:pPr>
            <a:r>
              <a:t>❌  No time for fun or hobbies</a:t>
            </a:r>
          </a:p>
        </p:txBody>
      </p:sp>
      <p:sp>
        <p:nvSpPr>
          <p:cNvPr id="16" name="Oval 15"/>
          <p:cNvSpPr/>
          <p:nvPr/>
        </p:nvSpPr>
        <p:spPr>
          <a:xfrm>
            <a:off x="5669280" y="3291840"/>
            <a:ext cx="731520" cy="731520"/>
          </a:xfrm>
          <a:prstGeom prst="ellipse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Segoe UI Emoji"/>
              </a:defRPr>
            </a:pPr>
            <a:r>
              <a:t>VS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0" y="1463040"/>
            <a:ext cx="5303520" cy="4754880"/>
          </a:xfrm>
          <a:prstGeom prst="roundRect">
            <a:avLst/>
          </a:prstGeom>
          <a:solidFill>
            <a:srgbClr val="D1FAE5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400800" y="1463040"/>
            <a:ext cx="5303520" cy="640080"/>
          </a:xfrm>
          <a:prstGeom prst="roundRect">
            <a:avLst/>
          </a:prstGeom>
          <a:solidFill>
            <a:srgbClr val="86EF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75120" y="1572768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Calibri"/>
              </a:defRPr>
            </a:pPr>
            <a:r>
              <a:t>😊 AFTER (With Time Management)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66560" y="23774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05A78"/>
                </a:solidFill>
                <a:latin typeface="Calibri"/>
              </a:defRPr>
            </a:pPr>
            <a:r>
              <a:t>✅  Wakes up early, plans the day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66560" y="29718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05A78"/>
                </a:solidFill>
                <a:latin typeface="Calibri"/>
              </a:defRPr>
            </a:pPr>
            <a:r>
              <a:t>✅  Limits phone to 30 minutes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66560" y="35661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05A78"/>
                </a:solidFill>
                <a:latin typeface="Calibri"/>
              </a:defRPr>
            </a:pPr>
            <a:r>
              <a:t>✅  Finishes homework by evening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66560" y="41605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05A78"/>
                </a:solidFill>
                <a:latin typeface="Calibri"/>
              </a:defRPr>
            </a:pPr>
            <a:r>
              <a:t>✅  Feels calm and confident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66560" y="47548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05A78"/>
                </a:solidFill>
                <a:latin typeface="Calibri"/>
              </a:defRPr>
            </a:pPr>
            <a:r>
              <a:t>✅  Submits work on time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66560" y="53492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05A78"/>
                </a:solidFill>
                <a:latin typeface="Calibri"/>
              </a:defRPr>
            </a:pPr>
            <a:r>
              <a:t>✅  Has time for sports &amp; hobbies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789920" y="63093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7882A0"/>
                </a:solidFill>
                <a:latin typeface="Calibri"/>
              </a:defRPr>
            </a:pPr>
            <a:r>
              <a:t>9 / 11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82A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864"/>
            <a:ext cx="12191695" cy="27432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365760"/>
            <a:ext cx="73152" cy="548640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32004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2D3250"/>
                </a:solidFill>
                <a:latin typeface="Calibri"/>
              </a:defRPr>
            </a:pPr>
            <a:r>
              <a:t>Conclusion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86868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7882A0"/>
                </a:solidFill>
                <a:latin typeface="Calibri"/>
              </a:defRPr>
            </a:pPr>
            <a:r>
              <a:t>Key takeaways from our presentation</a:t>
            </a:r>
          </a:p>
        </p:txBody>
      </p:sp>
      <p:sp>
        <p:nvSpPr>
          <p:cNvPr id="7" name="Oval 6"/>
          <p:cNvSpPr/>
          <p:nvPr/>
        </p:nvSpPr>
        <p:spPr>
          <a:xfrm>
            <a:off x="5455310" y="2743200"/>
            <a:ext cx="1280160" cy="1280160"/>
          </a:xfrm>
          <a:prstGeom prst="ellipse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FFFFFF"/>
                </a:solidFill>
                <a:latin typeface="Segoe UI Emoji"/>
              </a:defRPr>
            </a:pPr>
            <a:r>
              <a:t>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63870" y="406908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2D3250"/>
                </a:solidFill>
                <a:latin typeface="Calibri"/>
              </a:defRPr>
            </a:pPr>
            <a:r>
              <a:t>Success</a:t>
            </a:r>
          </a:p>
        </p:txBody>
      </p:sp>
      <p:sp>
        <p:nvSpPr>
          <p:cNvPr id="9" name="Oval 8"/>
          <p:cNvSpPr/>
          <p:nvPr/>
        </p:nvSpPr>
        <p:spPr>
          <a:xfrm>
            <a:off x="4100122" y="2057400"/>
            <a:ext cx="822960" cy="822960"/>
          </a:xfrm>
          <a:prstGeom prst="ellipse">
            <a:avLst/>
          </a:prstGeom>
          <a:solidFill>
            <a:srgbClr val="82A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Segoe UI Emoji"/>
              </a:defRPr>
            </a:pPr>
            <a:r>
              <a:t>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17242" y="2926080"/>
            <a:ext cx="1188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2D3250"/>
                </a:solidFill>
                <a:latin typeface="Calibri"/>
              </a:defRPr>
            </a:pPr>
            <a:r>
              <a:t>Time Mgmt</a:t>
            </a:r>
            <a:br/>
            <a:r>
              <a:t>Saves Time</a:t>
            </a:r>
          </a:p>
        </p:txBody>
      </p:sp>
      <p:sp>
        <p:nvSpPr>
          <p:cNvPr id="11" name="Oval 10"/>
          <p:cNvSpPr/>
          <p:nvPr/>
        </p:nvSpPr>
        <p:spPr>
          <a:xfrm>
            <a:off x="5683910" y="1143000"/>
            <a:ext cx="822960" cy="822960"/>
          </a:xfrm>
          <a:prstGeom prst="ellipse">
            <a:avLst/>
          </a:prstGeom>
          <a:solidFill>
            <a:srgbClr val="86EF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Segoe UI Emoji"/>
              </a:defRPr>
            </a:pPr>
            <a:r>
              <a:t>😊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01030" y="2011680"/>
            <a:ext cx="1188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2D3250"/>
                </a:solidFill>
                <a:latin typeface="Calibri"/>
              </a:defRPr>
            </a:pPr>
            <a:r>
              <a:t>Makes Life</a:t>
            </a:r>
            <a:br/>
            <a:r>
              <a:t>Easy</a:t>
            </a:r>
          </a:p>
        </p:txBody>
      </p:sp>
      <p:sp>
        <p:nvSpPr>
          <p:cNvPr id="13" name="Oval 12"/>
          <p:cNvSpPr/>
          <p:nvPr/>
        </p:nvSpPr>
        <p:spPr>
          <a:xfrm>
            <a:off x="7267697" y="2057400"/>
            <a:ext cx="822960" cy="822960"/>
          </a:xfrm>
          <a:prstGeom prst="ellipse">
            <a:avLst/>
          </a:prstGeom>
          <a:solidFill>
            <a:srgbClr val="FBBF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Segoe UI Emoji"/>
              </a:defRPr>
            </a:pPr>
            <a:r>
              <a:t>🌟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84817" y="2926080"/>
            <a:ext cx="1188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2D3250"/>
                </a:solidFill>
                <a:latin typeface="Calibri"/>
              </a:defRPr>
            </a:pPr>
            <a:r>
              <a:t>Small Habits</a:t>
            </a:r>
            <a:br/>
            <a:r>
              <a:t>= Big Success</a:t>
            </a:r>
          </a:p>
        </p:txBody>
      </p:sp>
      <p:sp>
        <p:nvSpPr>
          <p:cNvPr id="15" name="Oval 14"/>
          <p:cNvSpPr/>
          <p:nvPr/>
        </p:nvSpPr>
        <p:spPr>
          <a:xfrm>
            <a:off x="7267697" y="3886200"/>
            <a:ext cx="822960" cy="822960"/>
          </a:xfrm>
          <a:prstGeom prst="ellipse">
            <a:avLst/>
          </a:prstGeom>
          <a:solidFill>
            <a:srgbClr val="F4A3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Segoe UI Emoji"/>
              </a:defRPr>
            </a:pPr>
            <a:r>
              <a:t>🎯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84817" y="4754880"/>
            <a:ext cx="1188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2D3250"/>
                </a:solidFill>
                <a:latin typeface="Calibri"/>
              </a:defRPr>
            </a:pPr>
            <a:r>
              <a:t>Stay Focused</a:t>
            </a:r>
            <a:br/>
            <a:r>
              <a:t>&amp; Organized</a:t>
            </a:r>
          </a:p>
        </p:txBody>
      </p:sp>
      <p:sp>
        <p:nvSpPr>
          <p:cNvPr id="17" name="Oval 16"/>
          <p:cNvSpPr/>
          <p:nvPr/>
        </p:nvSpPr>
        <p:spPr>
          <a:xfrm>
            <a:off x="5683910" y="4800600"/>
            <a:ext cx="822960" cy="822960"/>
          </a:xfrm>
          <a:prstGeom prst="ellipse">
            <a:avLst/>
          </a:prstGeom>
          <a:solidFill>
            <a:srgbClr val="6ED2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Segoe UI Emoji"/>
              </a:defRPr>
            </a:pPr>
            <a:r>
              <a:t>📈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501030" y="5669280"/>
            <a:ext cx="1188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2D3250"/>
                </a:solidFill>
                <a:latin typeface="Calibri"/>
              </a:defRPr>
            </a:pPr>
            <a:r>
              <a:t>Better Grades</a:t>
            </a:r>
            <a:br/>
            <a:r>
              <a:t>&amp; Results</a:t>
            </a:r>
          </a:p>
        </p:txBody>
      </p:sp>
      <p:sp>
        <p:nvSpPr>
          <p:cNvPr id="19" name="Oval 18"/>
          <p:cNvSpPr/>
          <p:nvPr/>
        </p:nvSpPr>
        <p:spPr>
          <a:xfrm>
            <a:off x="4100122" y="3886200"/>
            <a:ext cx="822960" cy="822960"/>
          </a:xfrm>
          <a:prstGeom prst="ellipse">
            <a:avLst/>
          </a:prstGeom>
          <a:solidFill>
            <a:srgbClr val="C4B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Segoe UI Emoji"/>
              </a:defRPr>
            </a:pPr>
            <a:r>
              <a:t>🏆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917242" y="4754880"/>
            <a:ext cx="1188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2D3250"/>
                </a:solidFill>
                <a:latin typeface="Calibri"/>
              </a:defRPr>
            </a:pPr>
            <a:r>
              <a:t>Achieve Your</a:t>
            </a:r>
            <a:br/>
            <a:r>
              <a:t>Goals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371600" y="5943600"/>
            <a:ext cx="9418320" cy="59436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645920" y="59893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8B5CF6"/>
                </a:solidFill>
                <a:latin typeface="Calibri"/>
              </a:defRPr>
            </a:pPr>
            <a:r>
              <a:t>💡 "The key is not to prioritize what's on your schedule, but to schedule your priorities."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789920" y="63093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7882A0"/>
                </a:solidFill>
                <a:latin typeface="Calibri"/>
              </a:defRPr>
            </a:pPr>
            <a:r>
              <a:t>10 / 11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82A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91695" cy="36576"/>
          </a:xfrm>
          <a:prstGeom prst="rect">
            <a:avLst/>
          </a:prstGeom>
          <a:solidFill>
            <a:srgbClr val="C4B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82880" y="182880"/>
            <a:ext cx="2286000" cy="2286000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692640" y="182880"/>
            <a:ext cx="2286000" cy="2286000"/>
          </a:xfrm>
          <a:prstGeom prst="ellipse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82880" y="4389120"/>
            <a:ext cx="2286000" cy="2286000"/>
          </a:xfrm>
          <a:prstGeom prst="ellipse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692640" y="4389120"/>
            <a:ext cx="2286000" cy="2286000"/>
          </a:xfrm>
          <a:prstGeom prst="ellipse">
            <a:avLst/>
          </a:prstGeom>
          <a:solidFill>
            <a:srgbClr val="FCE7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2286000" y="1371600"/>
            <a:ext cx="73152" cy="73152"/>
          </a:xfrm>
          <a:prstGeom prst="ellipse">
            <a:avLst/>
          </a:prstGeom>
          <a:solidFill>
            <a:srgbClr val="C4B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560320" y="1371600"/>
            <a:ext cx="73152" cy="73152"/>
          </a:xfrm>
          <a:prstGeom prst="ellipse">
            <a:avLst/>
          </a:prstGeom>
          <a:solidFill>
            <a:srgbClr val="C4B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2834640" y="1371600"/>
            <a:ext cx="73152" cy="73152"/>
          </a:xfrm>
          <a:prstGeom prst="ellipse">
            <a:avLst/>
          </a:prstGeom>
          <a:solidFill>
            <a:srgbClr val="C4B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2286000" y="1645920"/>
            <a:ext cx="73152" cy="73152"/>
          </a:xfrm>
          <a:prstGeom prst="ellipse">
            <a:avLst/>
          </a:prstGeom>
          <a:solidFill>
            <a:srgbClr val="C4B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2560320" y="1645920"/>
            <a:ext cx="73152" cy="73152"/>
          </a:xfrm>
          <a:prstGeom prst="ellipse">
            <a:avLst/>
          </a:prstGeom>
          <a:solidFill>
            <a:srgbClr val="C4B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2834640" y="1645920"/>
            <a:ext cx="73152" cy="73152"/>
          </a:xfrm>
          <a:prstGeom prst="ellipse">
            <a:avLst/>
          </a:prstGeom>
          <a:solidFill>
            <a:srgbClr val="C4B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2286000" y="1920240"/>
            <a:ext cx="73152" cy="73152"/>
          </a:xfrm>
          <a:prstGeom prst="ellipse">
            <a:avLst/>
          </a:prstGeom>
          <a:solidFill>
            <a:srgbClr val="C4B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2560320" y="1920240"/>
            <a:ext cx="73152" cy="73152"/>
          </a:xfrm>
          <a:prstGeom prst="ellipse">
            <a:avLst/>
          </a:prstGeom>
          <a:solidFill>
            <a:srgbClr val="C4B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2834640" y="1920240"/>
            <a:ext cx="73152" cy="73152"/>
          </a:xfrm>
          <a:prstGeom prst="ellipse">
            <a:avLst/>
          </a:prstGeom>
          <a:solidFill>
            <a:srgbClr val="C4B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0" y="4572000"/>
            <a:ext cx="73152" cy="73152"/>
          </a:xfrm>
          <a:prstGeom prst="ellipse">
            <a:avLst/>
          </a:prstGeom>
          <a:solidFill>
            <a:srgbClr val="93C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9418320" y="4572000"/>
            <a:ext cx="73152" cy="73152"/>
          </a:xfrm>
          <a:prstGeom prst="ellipse">
            <a:avLst/>
          </a:prstGeom>
          <a:solidFill>
            <a:srgbClr val="93C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692640" y="4572000"/>
            <a:ext cx="73152" cy="73152"/>
          </a:xfrm>
          <a:prstGeom prst="ellipse">
            <a:avLst/>
          </a:prstGeom>
          <a:solidFill>
            <a:srgbClr val="93C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9144000" y="4846320"/>
            <a:ext cx="73152" cy="73152"/>
          </a:xfrm>
          <a:prstGeom prst="ellipse">
            <a:avLst/>
          </a:prstGeom>
          <a:solidFill>
            <a:srgbClr val="93C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418320" y="4846320"/>
            <a:ext cx="73152" cy="73152"/>
          </a:xfrm>
          <a:prstGeom prst="ellipse">
            <a:avLst/>
          </a:prstGeom>
          <a:solidFill>
            <a:srgbClr val="93C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692640" y="4846320"/>
            <a:ext cx="73152" cy="73152"/>
          </a:xfrm>
          <a:prstGeom prst="ellipse">
            <a:avLst/>
          </a:prstGeom>
          <a:solidFill>
            <a:srgbClr val="93C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144000" y="5120640"/>
            <a:ext cx="73152" cy="73152"/>
          </a:xfrm>
          <a:prstGeom prst="ellipse">
            <a:avLst/>
          </a:prstGeom>
          <a:solidFill>
            <a:srgbClr val="93C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418320" y="5120640"/>
            <a:ext cx="73152" cy="73152"/>
          </a:xfrm>
          <a:prstGeom prst="ellipse">
            <a:avLst/>
          </a:prstGeom>
          <a:solidFill>
            <a:srgbClr val="93C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692640" y="5120640"/>
            <a:ext cx="73152" cy="73152"/>
          </a:xfrm>
          <a:prstGeom prst="ellipse">
            <a:avLst/>
          </a:prstGeom>
          <a:solidFill>
            <a:srgbClr val="93C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4400" y="182880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0" b="1">
                <a:solidFill>
                  <a:srgbClr val="2D3250"/>
                </a:solidFill>
                <a:latin typeface="Calibri"/>
              </a:defRPr>
            </a:pPr>
            <a:r>
              <a:t>Thank You!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029200" y="3017520"/>
            <a:ext cx="2103120" cy="45720"/>
          </a:xfrm>
          <a:prstGeom prst="rect">
            <a:avLst/>
          </a:prstGeom>
          <a:solidFill>
            <a:srgbClr val="82A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3291840" y="3291840"/>
            <a:ext cx="731520" cy="731520"/>
          </a:xfrm>
          <a:prstGeom prst="ellipse">
            <a:avLst/>
          </a:prstGeom>
          <a:solidFill>
            <a:srgbClr val="82A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Segoe UI Emoji"/>
              </a:defRPr>
            </a:pPr>
            <a:r>
              <a:t>⏰</a:t>
            </a:r>
          </a:p>
        </p:txBody>
      </p:sp>
      <p:sp>
        <p:nvSpPr>
          <p:cNvPr id="29" name="Oval 28"/>
          <p:cNvSpPr/>
          <p:nvPr/>
        </p:nvSpPr>
        <p:spPr>
          <a:xfrm>
            <a:off x="4389120" y="3291840"/>
            <a:ext cx="731520" cy="731520"/>
          </a:xfrm>
          <a:prstGeom prst="ellipse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Segoe UI Emoji"/>
              </a:defRPr>
            </a:pPr>
            <a:r>
              <a:t>📅</a:t>
            </a:r>
          </a:p>
        </p:txBody>
      </p:sp>
      <p:sp>
        <p:nvSpPr>
          <p:cNvPr id="30" name="Oval 29"/>
          <p:cNvSpPr/>
          <p:nvPr/>
        </p:nvSpPr>
        <p:spPr>
          <a:xfrm>
            <a:off x="5486400" y="3291840"/>
            <a:ext cx="731520" cy="731520"/>
          </a:xfrm>
          <a:prstGeom prst="ellipse">
            <a:avLst/>
          </a:prstGeom>
          <a:solidFill>
            <a:srgbClr val="F4A3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Segoe UI Emoji"/>
              </a:defRPr>
            </a:pPr>
            <a:r>
              <a:t>🎯</a:t>
            </a:r>
          </a:p>
        </p:txBody>
      </p:sp>
      <p:sp>
        <p:nvSpPr>
          <p:cNvPr id="31" name="Oval 30"/>
          <p:cNvSpPr/>
          <p:nvPr/>
        </p:nvSpPr>
        <p:spPr>
          <a:xfrm>
            <a:off x="6583679" y="3291840"/>
            <a:ext cx="731520" cy="731520"/>
          </a:xfrm>
          <a:prstGeom prst="ellipse">
            <a:avLst/>
          </a:prstGeom>
          <a:solidFill>
            <a:srgbClr val="6ED2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Segoe UI Emoji"/>
              </a:defRPr>
            </a:pPr>
            <a:r>
              <a:t>📊</a:t>
            </a:r>
          </a:p>
        </p:txBody>
      </p:sp>
      <p:sp>
        <p:nvSpPr>
          <p:cNvPr id="32" name="Oval 31"/>
          <p:cNvSpPr/>
          <p:nvPr/>
        </p:nvSpPr>
        <p:spPr>
          <a:xfrm>
            <a:off x="7680960" y="3291840"/>
            <a:ext cx="731520" cy="731520"/>
          </a:xfrm>
          <a:prstGeom prst="ellipse">
            <a:avLst/>
          </a:prstGeom>
          <a:solidFill>
            <a:srgbClr val="FBBF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Segoe UI Emoji"/>
              </a:defRPr>
            </a:pPr>
            <a:r>
              <a:t>🏆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" y="438912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8B5CF6"/>
                </a:solidFill>
                <a:latin typeface="Calibri"/>
              </a:defRPr>
            </a:pPr>
            <a:r>
              <a:t>Any Questions?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4400" y="512064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7882A0"/>
                </a:solidFill>
                <a:latin typeface="Calibri"/>
              </a:defRPr>
            </a:pPr>
            <a:r>
              <a:t>Time Management  |  Work Smart, Save Time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82A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789920" y="63093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7882A0"/>
                </a:solidFill>
                <a:latin typeface="Calibri"/>
              </a:defRPr>
            </a:pPr>
            <a:r>
              <a:t>11 / 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