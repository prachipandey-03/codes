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36576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-457200"/>
            <a:ext cx="2286000" cy="22860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41280" y="182880"/>
            <a:ext cx="1371600" cy="137160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731520" y="5029200"/>
            <a:ext cx="2286000" cy="2286000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" y="5486400"/>
            <a:ext cx="1371600" cy="1371600"/>
          </a:xfrm>
          <a:prstGeom prst="ellipse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0" y="5029200"/>
            <a:ext cx="73152" cy="73152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72600" y="5029200"/>
            <a:ext cx="73152" cy="73152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029200"/>
            <a:ext cx="73152" cy="73152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829800" y="5029200"/>
            <a:ext cx="73152" cy="73152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0" y="5257800"/>
            <a:ext cx="73152" cy="73152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372600" y="5257800"/>
            <a:ext cx="73152" cy="73152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01200" y="5257800"/>
            <a:ext cx="73152" cy="73152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829800" y="5257800"/>
            <a:ext cx="73152" cy="73152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44000" y="5486400"/>
            <a:ext cx="73152" cy="73152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372600" y="5486400"/>
            <a:ext cx="73152" cy="73152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0" y="5486400"/>
            <a:ext cx="73152" cy="73152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829800" y="5486400"/>
            <a:ext cx="73152" cy="73152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44000" y="5715000"/>
            <a:ext cx="73152" cy="73152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372600" y="5715000"/>
            <a:ext cx="73152" cy="73152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715000"/>
            <a:ext cx="73152" cy="73152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829800" y="5715000"/>
            <a:ext cx="73152" cy="73152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052560" y="2468880"/>
            <a:ext cx="1097280" cy="1097280"/>
          </a:xfrm>
          <a:prstGeom prst="ellipse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Segoe UI Emoji"/>
              </a:defRPr>
            </a:pPr>
            <a:r>
              <a:t>🕐</a:t>
            </a:r>
          </a:p>
        </p:txBody>
      </p:sp>
      <p:sp>
        <p:nvSpPr>
          <p:cNvPr id="25" name="Oval 24"/>
          <p:cNvSpPr/>
          <p:nvPr/>
        </p:nvSpPr>
        <p:spPr>
          <a:xfrm>
            <a:off x="10149840" y="3383280"/>
            <a:ext cx="914400" cy="9144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Segoe UI Emoji"/>
              </a:defRPr>
            </a:pPr>
            <a:r>
              <a:t>📅</a:t>
            </a:r>
          </a:p>
        </p:txBody>
      </p:sp>
      <p:sp>
        <p:nvSpPr>
          <p:cNvPr id="26" name="Oval 25"/>
          <p:cNvSpPr/>
          <p:nvPr/>
        </p:nvSpPr>
        <p:spPr>
          <a:xfrm>
            <a:off x="8732520" y="3886200"/>
            <a:ext cx="822960" cy="822960"/>
          </a:xfrm>
          <a:prstGeom prst="ellipse">
            <a:avLst/>
          </a:prstGeom>
          <a:solidFill>
            <a:srgbClr val="F4A3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Segoe UI Emoji"/>
              </a:defRPr>
            </a:pPr>
            <a:r>
              <a:t>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10972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2D3250"/>
                </a:solidFill>
                <a:latin typeface="Calibri"/>
              </a:defRPr>
            </a:pPr>
            <a:r>
              <a:t>Time Management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21031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8B5CF6"/>
                </a:solidFill>
                <a:latin typeface="Calibri"/>
              </a:defRPr>
            </a:pPr>
            <a:r>
              <a:t>Work Smart, Save Time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2834640"/>
            <a:ext cx="2743200" cy="36576"/>
          </a:xfrm>
          <a:prstGeom prst="rect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3108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82FF"/>
                </a:solidFill>
                <a:latin typeface="Calibri"/>
              </a:defRPr>
            </a:pPr>
            <a:r>
              <a:t>Team Members</a:t>
            </a:r>
          </a:p>
        </p:txBody>
      </p:sp>
      <p:sp>
        <p:nvSpPr>
          <p:cNvPr id="31" name="Oval 30"/>
          <p:cNvSpPr/>
          <p:nvPr/>
        </p:nvSpPr>
        <p:spPr>
          <a:xfrm>
            <a:off x="822960" y="3621024"/>
            <a:ext cx="109728" cy="109728"/>
          </a:xfrm>
          <a:prstGeom prst="ellipse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3566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A78"/>
                </a:solidFill>
                <a:latin typeface="Calibri"/>
              </a:defRPr>
            </a:pPr>
            <a:r>
              <a:t>Prachi Pandey – S25CSEU1097</a:t>
            </a:r>
          </a:p>
        </p:txBody>
      </p:sp>
      <p:sp>
        <p:nvSpPr>
          <p:cNvPr id="33" name="Oval 32"/>
          <p:cNvSpPr/>
          <p:nvPr/>
        </p:nvSpPr>
        <p:spPr>
          <a:xfrm>
            <a:off x="822960" y="3986784"/>
            <a:ext cx="109728" cy="109728"/>
          </a:xfrm>
          <a:prstGeom prst="ellipse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1560" y="3931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A78"/>
                </a:solidFill>
                <a:latin typeface="Calibri"/>
              </a:defRPr>
            </a:pPr>
            <a:r>
              <a:t>Nandini Arora – S25CSEU0631</a:t>
            </a:r>
          </a:p>
        </p:txBody>
      </p:sp>
      <p:sp>
        <p:nvSpPr>
          <p:cNvPr id="35" name="Oval 34"/>
          <p:cNvSpPr/>
          <p:nvPr/>
        </p:nvSpPr>
        <p:spPr>
          <a:xfrm>
            <a:off x="822960" y="4352544"/>
            <a:ext cx="109728" cy="109728"/>
          </a:xfrm>
          <a:prstGeom prst="ellipse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2976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A78"/>
                </a:solidFill>
                <a:latin typeface="Calibri"/>
              </a:defRPr>
            </a:pPr>
            <a:r>
              <a:t>Naitik Jain – S25CSEU0438</a:t>
            </a:r>
          </a:p>
        </p:txBody>
      </p:sp>
      <p:sp>
        <p:nvSpPr>
          <p:cNvPr id="37" name="Oval 36"/>
          <p:cNvSpPr/>
          <p:nvPr/>
        </p:nvSpPr>
        <p:spPr>
          <a:xfrm>
            <a:off x="822960" y="4718304"/>
            <a:ext cx="109728" cy="109728"/>
          </a:xfrm>
          <a:prstGeom prst="ellipse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1560" y="4663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A78"/>
                </a:solidFill>
                <a:latin typeface="Calibri"/>
              </a:defRPr>
            </a:pPr>
            <a:r>
              <a:t>Tushar Joshi – S25CSEU2000</a:t>
            </a:r>
          </a:p>
        </p:txBody>
      </p:sp>
      <p:sp>
        <p:nvSpPr>
          <p:cNvPr id="39" name="Oval 38"/>
          <p:cNvSpPr/>
          <p:nvPr/>
        </p:nvSpPr>
        <p:spPr>
          <a:xfrm>
            <a:off x="5029200" y="3621024"/>
            <a:ext cx="109728" cy="10972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257800" y="35661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A78"/>
                </a:solidFill>
                <a:latin typeface="Calibri"/>
              </a:defRPr>
            </a:pPr>
            <a:r>
              <a:t>Kushagra Tailor – S25CSEU1720</a:t>
            </a:r>
          </a:p>
        </p:txBody>
      </p:sp>
      <p:sp>
        <p:nvSpPr>
          <p:cNvPr id="41" name="Oval 40"/>
          <p:cNvSpPr/>
          <p:nvPr/>
        </p:nvSpPr>
        <p:spPr>
          <a:xfrm>
            <a:off x="5029200" y="3986784"/>
            <a:ext cx="109728" cy="10972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57800" y="39319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A78"/>
                </a:solidFill>
                <a:latin typeface="Calibri"/>
              </a:defRPr>
            </a:pPr>
            <a:r>
              <a:t>Gaurav Dubey – A25ARIU0059</a:t>
            </a:r>
          </a:p>
        </p:txBody>
      </p:sp>
      <p:sp>
        <p:nvSpPr>
          <p:cNvPr id="43" name="Oval 42"/>
          <p:cNvSpPr/>
          <p:nvPr/>
        </p:nvSpPr>
        <p:spPr>
          <a:xfrm>
            <a:off x="5029200" y="4352544"/>
            <a:ext cx="109728" cy="10972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257800" y="42976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A78"/>
                </a:solidFill>
                <a:latin typeface="Calibri"/>
              </a:defRPr>
            </a:pPr>
            <a:r>
              <a:t>Abhinav Bhatnagar – M25BBAU0065</a:t>
            </a:r>
          </a:p>
        </p:txBody>
      </p:sp>
      <p:sp>
        <p:nvSpPr>
          <p:cNvPr id="45" name="Oval 44"/>
          <p:cNvSpPr/>
          <p:nvPr/>
        </p:nvSpPr>
        <p:spPr>
          <a:xfrm>
            <a:off x="5029200" y="4718304"/>
            <a:ext cx="109728" cy="10972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257800" y="4663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A78"/>
                </a:solidFill>
                <a:latin typeface="Calibri"/>
              </a:defRPr>
            </a:pPr>
            <a:r>
              <a:t>Arjun Singh – S25CSEU2221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82A0"/>
                </a:solidFill>
                <a:latin typeface="Calibri"/>
              </a:defRPr>
            </a:pPr>
            <a:r>
              <a:t>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2743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5029200"/>
            <a:ext cx="2286000" cy="22860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65760"/>
            <a:ext cx="73152" cy="5486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20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3250"/>
                </a:solidFill>
                <a:latin typeface="Calibri"/>
              </a:defRPr>
            </a:pPr>
            <a: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68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882A0"/>
                </a:solidFill>
                <a:latin typeface="Calibri"/>
              </a:defRPr>
            </a:pPr>
            <a:r>
              <a:t>Understanding the basics of time management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2377440" cy="2011680"/>
          </a:xfrm>
          <a:prstGeom prst="roundRect">
            <a:avLst/>
          </a:prstGeom>
          <a:solidFill>
            <a:srgbClr val="DBEAF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45920"/>
            <a:ext cx="2377440" cy="54864"/>
          </a:xfrm>
          <a:prstGeom prst="rect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508760" y="1965960"/>
            <a:ext cx="640080" cy="640080"/>
          </a:xfrm>
          <a:prstGeom prst="ellipse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Segoe UI Emoji"/>
              </a:defRPr>
            </a:pPr>
            <a:r>
              <a:t>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4320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D3250"/>
                </a:solidFill>
                <a:latin typeface="Calibri"/>
              </a:defRPr>
            </a:pPr>
            <a:r>
              <a:t>Time management means</a:t>
            </a:r>
            <a:br/>
            <a:r>
              <a:t>using time wisely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645920"/>
            <a:ext cx="2377440" cy="2011680"/>
          </a:xfrm>
          <a:prstGeom prst="roundRect">
            <a:avLst/>
          </a:prstGeom>
          <a:solidFill>
            <a:srgbClr val="D1FAE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1645920"/>
            <a:ext cx="2377440" cy="54864"/>
          </a:xfrm>
          <a:prstGeom prst="rect">
            <a:avLst/>
          </a:prstGeom>
          <a:solidFill>
            <a:srgbClr val="86E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60520" y="1965960"/>
            <a:ext cx="640080" cy="640080"/>
          </a:xfrm>
          <a:prstGeom prst="ellipse">
            <a:avLst/>
          </a:prstGeom>
          <a:solidFill>
            <a:srgbClr val="86E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Segoe UI Emoji"/>
              </a:defRPr>
            </a:pPr>
            <a:r>
              <a:t>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74320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D3250"/>
                </a:solidFill>
                <a:latin typeface="Calibri"/>
              </a:defRPr>
            </a:pPr>
            <a:r>
              <a:t>Helps us finish work</a:t>
            </a:r>
            <a:br/>
            <a:r>
              <a:t>on time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1645920"/>
            <a:ext cx="2377440" cy="2011680"/>
          </a:xfrm>
          <a:prstGeom prst="roundRect">
            <a:avLst/>
          </a:prstGeom>
          <a:solidFill>
            <a:srgbClr val="EDE9F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1645920"/>
            <a:ext cx="2377440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12280" y="1965960"/>
            <a:ext cx="640080" cy="64008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Segoe UI Emoji"/>
              </a:defRPr>
            </a:pPr>
            <a:r>
              <a:t>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74320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D3250"/>
                </a:solidFill>
                <a:latin typeface="Calibri"/>
              </a:defRPr>
            </a:pPr>
            <a:r>
              <a:t>Very important for</a:t>
            </a:r>
            <a:br/>
            <a:r>
              <a:t>students &amp; professionals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95359" y="1645920"/>
            <a:ext cx="2377440" cy="2011680"/>
          </a:xfrm>
          <a:prstGeom prst="roundRect">
            <a:avLst/>
          </a:prstGeom>
          <a:solidFill>
            <a:srgbClr val="FEF3C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595359" y="1645920"/>
            <a:ext cx="2377440" cy="54864"/>
          </a:xfrm>
          <a:prstGeom prst="rect">
            <a:avLst/>
          </a:prstGeom>
          <a:solidFill>
            <a:srgbClr val="FBBF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64039" y="1965960"/>
            <a:ext cx="640080" cy="640080"/>
          </a:xfrm>
          <a:prstGeom prst="ellipse">
            <a:avLst/>
          </a:prstGeom>
          <a:solidFill>
            <a:srgbClr val="FBBF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Segoe UI Emoji"/>
              </a:defRPr>
            </a:pPr>
            <a:r>
              <a:t>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39" y="274320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D3250"/>
                </a:solidFill>
                <a:latin typeface="Calibri"/>
              </a:defRPr>
            </a:pPr>
            <a:r>
              <a:t>Leads to better</a:t>
            </a:r>
            <a:br/>
            <a:r>
              <a:t>results and growth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023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B5CF6"/>
                </a:solidFill>
                <a:latin typeface="Calibri"/>
              </a:defRPr>
            </a:pPr>
            <a:r>
              <a:t>⏱ Simple Timeline: How Time Management Works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71600" y="4983480"/>
            <a:ext cx="9144000" cy="36576"/>
          </a:xfrm>
          <a:prstGeom prst="rect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371600" y="4754880"/>
            <a:ext cx="457200" cy="457200"/>
          </a:xfrm>
          <a:prstGeom prst="ellipse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Segoe UI Emoji"/>
              </a:defRPr>
            </a:pPr>
            <a:r>
              <a:t>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5349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D3250"/>
                </a:solidFill>
                <a:latin typeface="Calibri"/>
              </a:defRPr>
            </a:pPr>
            <a:r>
              <a:t>Plan</a:t>
            </a:r>
          </a:p>
        </p:txBody>
      </p:sp>
      <p:sp>
        <p:nvSpPr>
          <p:cNvPr id="28" name="Oval 27"/>
          <p:cNvSpPr/>
          <p:nvPr/>
        </p:nvSpPr>
        <p:spPr>
          <a:xfrm>
            <a:off x="3657600" y="4754880"/>
            <a:ext cx="457200" cy="4572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Segoe UI Emoji"/>
              </a:defRPr>
            </a:pPr>
            <a:r>
              <a:t>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5349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D3250"/>
                </a:solidFill>
                <a:latin typeface="Calibri"/>
              </a:defRPr>
            </a:pPr>
            <a:r>
              <a:t>Prioritize</a:t>
            </a:r>
          </a:p>
        </p:txBody>
      </p:sp>
      <p:sp>
        <p:nvSpPr>
          <p:cNvPr id="30" name="Oval 29"/>
          <p:cNvSpPr/>
          <p:nvPr/>
        </p:nvSpPr>
        <p:spPr>
          <a:xfrm>
            <a:off x="5943600" y="4754880"/>
            <a:ext cx="457200" cy="457200"/>
          </a:xfrm>
          <a:prstGeom prst="ellipse">
            <a:avLst/>
          </a:prstGeom>
          <a:solidFill>
            <a:srgbClr val="F4A3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Segoe UI Emoji"/>
              </a:defRPr>
            </a:pPr>
            <a:r>
              <a:t>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720" y="5349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D3250"/>
                </a:solidFill>
                <a:latin typeface="Calibri"/>
              </a:defRPr>
            </a:pPr>
            <a:r>
              <a:t>Execute</a:t>
            </a:r>
          </a:p>
        </p:txBody>
      </p:sp>
      <p:sp>
        <p:nvSpPr>
          <p:cNvPr id="32" name="Oval 31"/>
          <p:cNvSpPr/>
          <p:nvPr/>
        </p:nvSpPr>
        <p:spPr>
          <a:xfrm>
            <a:off x="8229600" y="4754880"/>
            <a:ext cx="457200" cy="457200"/>
          </a:xfrm>
          <a:prstGeom prst="ellipse">
            <a:avLst/>
          </a:prstGeom>
          <a:solidFill>
            <a:srgbClr val="6E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Segoe UI Emoji"/>
              </a:defRPr>
            </a:pPr>
            <a:r>
              <a:t>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5349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D3250"/>
                </a:solidFill>
                <a:latin typeface="Calibri"/>
              </a:defRPr>
            </a:pPr>
            <a:r>
              <a:t>Review</a:t>
            </a:r>
          </a:p>
        </p:txBody>
      </p:sp>
      <p:sp>
        <p:nvSpPr>
          <p:cNvPr id="34" name="Oval 33"/>
          <p:cNvSpPr/>
          <p:nvPr/>
        </p:nvSpPr>
        <p:spPr>
          <a:xfrm>
            <a:off x="10515600" y="4754880"/>
            <a:ext cx="457200" cy="457200"/>
          </a:xfrm>
          <a:prstGeom prst="ellipse">
            <a:avLst/>
          </a:prstGeom>
          <a:solidFill>
            <a:srgbClr val="86E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Segoe UI Emoji"/>
              </a:defRPr>
            </a:pPr>
            <a:r>
              <a:t>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2720" y="5349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D3250"/>
                </a:solidFill>
                <a:latin typeface="Calibri"/>
              </a:defRPr>
            </a:pPr>
            <a:r>
              <a:t>Improve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82A0"/>
                </a:solidFill>
                <a:latin typeface="Calibri"/>
              </a:defRPr>
            </a:pPr>
            <a: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2743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73152" cy="5486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20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3250"/>
                </a:solidFill>
                <a:latin typeface="Calibri"/>
              </a:defRPr>
            </a:pPr>
            <a:r>
              <a:t>Importance of Time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68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882A0"/>
                </a:solidFill>
                <a:latin typeface="Calibri"/>
              </a:defRPr>
            </a:pPr>
            <a:r>
              <a:t>Why it matters for your success</a:t>
            </a:r>
          </a:p>
        </p:txBody>
      </p:sp>
      <p:sp>
        <p:nvSpPr>
          <p:cNvPr id="7" name="Oval 6"/>
          <p:cNvSpPr/>
          <p:nvPr/>
        </p:nvSpPr>
        <p:spPr>
          <a:xfrm>
            <a:off x="804672" y="1536192"/>
            <a:ext cx="585216" cy="585216"/>
          </a:xfrm>
          <a:prstGeom prst="ellipse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Segoe UI Emoji"/>
              </a:defRPr>
            </a:pPr>
            <a:r>
              <a:t>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554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D3250"/>
                </a:solidFill>
                <a:latin typeface="Calibri"/>
              </a:defRPr>
            </a:pPr>
            <a:r>
              <a:t>Helps Save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874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882A0"/>
                </a:solidFill>
                <a:latin typeface="Calibri"/>
              </a:defRPr>
            </a:pPr>
            <a:r>
              <a:t>Finish tasks faster with proper planning</a:t>
            </a:r>
          </a:p>
        </p:txBody>
      </p:sp>
      <p:sp>
        <p:nvSpPr>
          <p:cNvPr id="10" name="Oval 9"/>
          <p:cNvSpPr/>
          <p:nvPr/>
        </p:nvSpPr>
        <p:spPr>
          <a:xfrm>
            <a:off x="804672" y="2679192"/>
            <a:ext cx="585216" cy="585216"/>
          </a:xfrm>
          <a:prstGeom prst="ellipse">
            <a:avLst/>
          </a:prstGeom>
          <a:solidFill>
            <a:srgbClr val="86E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Segoe UI Emoji"/>
              </a:defRPr>
            </a:pPr>
            <a:r>
              <a:t>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697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D3250"/>
                </a:solidFill>
                <a:latin typeface="Calibri"/>
              </a:defRPr>
            </a:pPr>
            <a:r>
              <a:t>Reduces Stress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017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882A0"/>
                </a:solidFill>
                <a:latin typeface="Calibri"/>
              </a:defRPr>
            </a:pPr>
            <a:r>
              <a:t>Less worry about deadlines</a:t>
            </a:r>
          </a:p>
        </p:txBody>
      </p:sp>
      <p:sp>
        <p:nvSpPr>
          <p:cNvPr id="13" name="Oval 12"/>
          <p:cNvSpPr/>
          <p:nvPr/>
        </p:nvSpPr>
        <p:spPr>
          <a:xfrm>
            <a:off x="804672" y="3822192"/>
            <a:ext cx="585216" cy="585216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Segoe UI Emoji"/>
              </a:defRPr>
            </a:pPr>
            <a:r>
              <a:t>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840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D3250"/>
                </a:solidFill>
                <a:latin typeface="Calibri"/>
              </a:defRPr>
            </a:pPr>
            <a:r>
              <a:t>Improves Focus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160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882A0"/>
                </a:solidFill>
                <a:latin typeface="Calibri"/>
              </a:defRPr>
            </a:pPr>
            <a:r>
              <a:t>Stay on track with your goals</a:t>
            </a:r>
          </a:p>
        </p:txBody>
      </p:sp>
      <p:sp>
        <p:nvSpPr>
          <p:cNvPr id="16" name="Oval 15"/>
          <p:cNvSpPr/>
          <p:nvPr/>
        </p:nvSpPr>
        <p:spPr>
          <a:xfrm>
            <a:off x="804672" y="4965192"/>
            <a:ext cx="585216" cy="585216"/>
          </a:xfrm>
          <a:prstGeom prst="ellipse">
            <a:avLst/>
          </a:prstGeom>
          <a:solidFill>
            <a:srgbClr val="FBBF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Segoe UI Emoji"/>
              </a:defRPr>
            </a:pPr>
            <a:r>
              <a:t>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983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D3250"/>
                </a:solidFill>
                <a:latin typeface="Calibri"/>
              </a:defRPr>
            </a:pPr>
            <a:r>
              <a:t>Achieve Goals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5303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882A0"/>
                </a:solidFill>
                <a:latin typeface="Calibri"/>
              </a:defRPr>
            </a:pPr>
            <a:r>
              <a:t>Reach your targets step by step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1371600"/>
            <a:ext cx="5669280" cy="475488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3250"/>
                </a:solidFill>
                <a:latin typeface="Calibri"/>
              </a:defRPr>
            </a:pPr>
            <a:r>
              <a:t>📊 Productivity Increase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0" y="4434840"/>
            <a:ext cx="914400" cy="960119"/>
          </a:xfrm>
          <a:prstGeom prst="roundRect">
            <a:avLst/>
          </a:prstGeom>
          <a:solidFill>
            <a:srgbClr val="F8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4160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3250"/>
                </a:solidFill>
                <a:latin typeface="Calibri"/>
              </a:defRPr>
            </a:pPr>
            <a:r>
              <a:t>35%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4864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05A78"/>
                </a:solidFill>
                <a:latin typeface="Calibri"/>
              </a:defRPr>
            </a:pPr>
            <a:r>
              <a:t>Without</a:t>
            </a:r>
            <a:br/>
            <a:r>
              <a:t>Planning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26680" y="3886200"/>
            <a:ext cx="914400" cy="1508760"/>
          </a:xfrm>
          <a:prstGeom prst="roundRect">
            <a:avLst/>
          </a:prstGeom>
          <a:solidFill>
            <a:srgbClr val="FBBF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26680" y="36118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3250"/>
                </a:solidFill>
                <a:latin typeface="Calibri"/>
              </a:defRPr>
            </a:pPr>
            <a:r>
              <a:t>55%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54864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05A78"/>
                </a:solidFill>
                <a:latin typeface="Calibri"/>
              </a:defRPr>
            </a:pPr>
            <a:r>
              <a:t>Basic</a:t>
            </a:r>
            <a:br/>
            <a:r>
              <a:t>Planning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69680" y="3337560"/>
            <a:ext cx="914400" cy="20574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69680" y="3063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3250"/>
                </a:solidFill>
                <a:latin typeface="Calibri"/>
              </a:defRPr>
            </a:pPr>
            <a:r>
              <a:t>75%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54864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05A78"/>
                </a:solidFill>
                <a:latin typeface="Calibri"/>
              </a:defRPr>
            </a:pPr>
            <a:r>
              <a:t>To-Do</a:t>
            </a:r>
            <a:br/>
            <a:r>
              <a:t>List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12680" y="2788920"/>
            <a:ext cx="914400" cy="2606040"/>
          </a:xfrm>
          <a:prstGeom prst="roundRect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12680" y="2514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3250"/>
                </a:solidFill>
                <a:latin typeface="Calibri"/>
              </a:defRPr>
            </a:pPr>
            <a:r>
              <a:t>95%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21240" y="54864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05A78"/>
                </a:solidFill>
                <a:latin typeface="Calibri"/>
              </a:defRPr>
            </a:pPr>
            <a:r>
              <a:t>Full Time</a:t>
            </a:r>
            <a:br/>
            <a:r>
              <a:t>Mgmt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5394960"/>
            <a:ext cx="48463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82A0"/>
                </a:solidFill>
                <a:latin typeface="Calibri"/>
              </a:defRPr>
            </a:pPr>
            <a: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2743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73152" cy="5486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20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3250"/>
                </a:solidFill>
                <a:latin typeface="Calibri"/>
              </a:defRPr>
            </a:pPr>
            <a:r>
              <a:t>Common Problems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68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882A0"/>
                </a:solidFill>
                <a:latin typeface="Calibri"/>
              </a:defRPr>
            </a:pPr>
            <a:r>
              <a:t>Challenges that waste our 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5303520" cy="2103120"/>
          </a:xfrm>
          <a:prstGeom prst="roundRect">
            <a:avLst/>
          </a:prstGeom>
          <a:solidFill>
            <a:srgbClr val="FCE7F3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64008" cy="2103120"/>
          </a:xfrm>
          <a:prstGeom prst="roundRect">
            <a:avLst/>
          </a:prstGeom>
          <a:solidFill>
            <a:srgbClr val="F8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" y="2057400"/>
            <a:ext cx="822960" cy="822960"/>
          </a:xfrm>
          <a:prstGeom prst="ellipse">
            <a:avLst/>
          </a:prstGeom>
          <a:solidFill>
            <a:srgbClr val="F8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Segoe UI Emoji"/>
              </a:defRPr>
            </a:pPr>
            <a:r>
              <a:t>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1920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3250"/>
                </a:solidFill>
                <a:latin typeface="Calibri"/>
              </a:defRPr>
            </a:pPr>
            <a:r>
              <a:t>Procrastination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3774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5A78"/>
                </a:solidFill>
                <a:latin typeface="Calibri"/>
              </a:defRPr>
            </a:pPr>
            <a:r>
              <a:t>Delaying work</a:t>
            </a:r>
            <a:br/>
            <a:r>
              <a:t>until last moment</a:t>
            </a:r>
          </a:p>
        </p:txBody>
      </p:sp>
      <p:sp>
        <p:nvSpPr>
          <p:cNvPr id="12" name="Oval 11"/>
          <p:cNvSpPr/>
          <p:nvPr/>
        </p:nvSpPr>
        <p:spPr>
          <a:xfrm>
            <a:off x="5394960" y="1828800"/>
            <a:ext cx="228600" cy="228600"/>
          </a:xfrm>
          <a:prstGeom prst="ellipse">
            <a:avLst/>
          </a:prstGeom>
          <a:solidFill>
            <a:srgbClr val="F8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0" y="1554480"/>
            <a:ext cx="5303520" cy="2103120"/>
          </a:xfrm>
          <a:prstGeom prst="roundRect">
            <a:avLst/>
          </a:prstGeom>
          <a:solidFill>
            <a:srgbClr val="DBEAF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35040" y="1554480"/>
            <a:ext cx="64008" cy="2103120"/>
          </a:xfrm>
          <a:prstGeom prst="roundRect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37960" y="2057400"/>
            <a:ext cx="822960" cy="822960"/>
          </a:xfrm>
          <a:prstGeom prst="ellipse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Segoe UI Emoji"/>
              </a:defRPr>
            </a:pPr>
            <a:r>
              <a:t>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1920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3250"/>
                </a:solidFill>
                <a:latin typeface="Calibri"/>
              </a:defRPr>
            </a:pPr>
            <a:r>
              <a:t>Too Much Phone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23774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5A78"/>
                </a:solidFill>
                <a:latin typeface="Calibri"/>
              </a:defRPr>
            </a:pPr>
            <a:r>
              <a:t>Social media and</a:t>
            </a:r>
            <a:br/>
            <a:r>
              <a:t>endless scrolling</a:t>
            </a:r>
          </a:p>
        </p:txBody>
      </p:sp>
      <p:sp>
        <p:nvSpPr>
          <p:cNvPr id="18" name="Oval 17"/>
          <p:cNvSpPr/>
          <p:nvPr/>
        </p:nvSpPr>
        <p:spPr>
          <a:xfrm>
            <a:off x="10789920" y="1828800"/>
            <a:ext cx="228600" cy="228600"/>
          </a:xfrm>
          <a:prstGeom prst="ellipse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3931920"/>
            <a:ext cx="5303520" cy="2103120"/>
          </a:xfrm>
          <a:prstGeom prst="roundRect">
            <a:avLst/>
          </a:prstGeom>
          <a:solidFill>
            <a:srgbClr val="FEF3C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" y="3931920"/>
            <a:ext cx="64008" cy="2103120"/>
          </a:xfrm>
          <a:prstGeom prst="roundRect">
            <a:avLst/>
          </a:prstGeom>
          <a:solidFill>
            <a:srgbClr val="FBBF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43000" y="4434840"/>
            <a:ext cx="822960" cy="822960"/>
          </a:xfrm>
          <a:prstGeom prst="ellipse">
            <a:avLst/>
          </a:prstGeom>
          <a:solidFill>
            <a:srgbClr val="FBBF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Segoe UI Emoji"/>
              </a:defRPr>
            </a:pPr>
            <a:r>
              <a:t>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4297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3250"/>
                </a:solidFill>
                <a:latin typeface="Calibri"/>
              </a:defRPr>
            </a:pPr>
            <a:r>
              <a:t>No Planning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475488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5A78"/>
                </a:solidFill>
                <a:latin typeface="Calibri"/>
              </a:defRPr>
            </a:pPr>
            <a:r>
              <a:t>Starting work without</a:t>
            </a:r>
            <a:br/>
            <a:r>
              <a:t>a clear plan</a:t>
            </a:r>
          </a:p>
        </p:txBody>
      </p:sp>
      <p:sp>
        <p:nvSpPr>
          <p:cNvPr id="24" name="Oval 23"/>
          <p:cNvSpPr/>
          <p:nvPr/>
        </p:nvSpPr>
        <p:spPr>
          <a:xfrm>
            <a:off x="5394960" y="4206240"/>
            <a:ext cx="228600" cy="228600"/>
          </a:xfrm>
          <a:prstGeom prst="ellipse">
            <a:avLst/>
          </a:prstGeom>
          <a:solidFill>
            <a:srgbClr val="FBBF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035040" y="3931920"/>
            <a:ext cx="5303520" cy="2103120"/>
          </a:xfrm>
          <a:prstGeom prst="roundRect">
            <a:avLst/>
          </a:prstGeom>
          <a:solidFill>
            <a:srgbClr val="EDE9F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035040" y="3931920"/>
            <a:ext cx="64008" cy="210312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537960" y="4434840"/>
            <a:ext cx="822960" cy="82296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Segoe UI Emoji"/>
              </a:defRPr>
            </a:pPr>
            <a:r>
              <a:t>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4297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3250"/>
                </a:solidFill>
                <a:latin typeface="Calibri"/>
              </a:defRPr>
            </a:pPr>
            <a:r>
              <a:t>Priority Confusion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475488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5A78"/>
                </a:solidFill>
                <a:latin typeface="Calibri"/>
              </a:defRPr>
            </a:pPr>
            <a:r>
              <a:t>Not knowing what</a:t>
            </a:r>
            <a:br/>
            <a:r>
              <a:t>to do first</a:t>
            </a:r>
          </a:p>
        </p:txBody>
      </p:sp>
      <p:sp>
        <p:nvSpPr>
          <p:cNvPr id="30" name="Oval 29"/>
          <p:cNvSpPr/>
          <p:nvPr/>
        </p:nvSpPr>
        <p:spPr>
          <a:xfrm>
            <a:off x="10789920" y="4206240"/>
            <a:ext cx="228600" cy="2286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623560" y="2926080"/>
            <a:ext cx="548640" cy="54864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23560" y="29718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D3250"/>
                </a:solidFill>
                <a:latin typeface="Calibri"/>
              </a:defRPr>
            </a:pPr>
            <a:r>
              <a:t>⚠️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82A0"/>
                </a:solidFill>
                <a:latin typeface="Calibri"/>
              </a:defRPr>
            </a:pPr>
            <a: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2743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73152" cy="5486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20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3250"/>
                </a:solidFill>
                <a:latin typeface="Calibri"/>
              </a:defRPr>
            </a:pPr>
            <a:r>
              <a:t>Key Techniques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68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882A0"/>
                </a:solidFill>
                <a:latin typeface="Calibri"/>
              </a:defRPr>
            </a:pPr>
            <a:r>
              <a:t>Simple steps to manage your time better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20116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2011680" cy="54864"/>
          </a:xfrm>
          <a:prstGeom prst="rect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88720" y="1920240"/>
            <a:ext cx="548640" cy="548640"/>
          </a:xfrm>
          <a:prstGeom prst="ellipse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Segoe UI Emoj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51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2D3250"/>
                </a:solidFill>
                <a:latin typeface="Calibri"/>
              </a:defRPr>
            </a:pPr>
            <a:r>
              <a:t>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004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D3250"/>
                </a:solidFill>
                <a:latin typeface="Calibri"/>
              </a:defRPr>
            </a:pPr>
            <a:r>
              <a:t>Make a</a:t>
            </a:r>
            <a:br/>
            <a:r>
              <a:t>To-Do List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9319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05A78"/>
                </a:solidFill>
                <a:latin typeface="Calibri"/>
              </a:defRPr>
            </a:pPr>
            <a:r>
              <a:t>Write down all</a:t>
            </a:r>
            <a:br/>
            <a:r>
              <a:t>your tasks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3017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2AA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88920" y="1645920"/>
            <a:ext cx="20116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88920" y="1645920"/>
            <a:ext cx="2011680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1920240"/>
            <a:ext cx="548640" cy="54864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Segoe UI Emoji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2651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2D3250"/>
                </a:solidFill>
                <a:latin typeface="Calibri"/>
              </a:defRPr>
            </a:pPr>
            <a:r>
              <a:t>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32004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D3250"/>
                </a:solidFill>
                <a:latin typeface="Calibri"/>
              </a:defRPr>
            </a:pPr>
            <a:r>
              <a:t>Set</a:t>
            </a:r>
            <a:br/>
            <a:r>
              <a:t>Priorities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39319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05A78"/>
                </a:solidFill>
                <a:latin typeface="Calibri"/>
              </a:defRPr>
            </a:pPr>
            <a:r>
              <a:t>Decide what is</a:t>
            </a:r>
            <a:br/>
            <a:r>
              <a:t>most important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3017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2AA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0640" y="1645920"/>
            <a:ext cx="20116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20640" y="1645920"/>
            <a:ext cx="2011680" cy="54864"/>
          </a:xfrm>
          <a:prstGeom prst="rect">
            <a:avLst/>
          </a:prstGeom>
          <a:solidFill>
            <a:srgbClr val="F4A3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52160" y="1920240"/>
            <a:ext cx="548640" cy="548640"/>
          </a:xfrm>
          <a:prstGeom prst="ellipse">
            <a:avLst/>
          </a:prstGeom>
          <a:solidFill>
            <a:srgbClr val="F4A3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Segoe UI Emoji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2651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2D3250"/>
                </a:solidFill>
                <a:latin typeface="Calibri"/>
              </a:defRPr>
            </a:pPr>
            <a:r>
              <a:t>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7800" y="32004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D3250"/>
                </a:solidFill>
                <a:latin typeface="Calibri"/>
              </a:defRPr>
            </a:pPr>
            <a:r>
              <a:t>Divide Time</a:t>
            </a:r>
            <a:br/>
            <a:r>
              <a:t>for Tasks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57800" y="39319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05A78"/>
                </a:solidFill>
                <a:latin typeface="Calibri"/>
              </a:defRPr>
            </a:pPr>
            <a:r>
              <a:t>Give each task</a:t>
            </a:r>
            <a:br/>
            <a:r>
              <a:t>a time slot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3017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2AA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52359" y="1645920"/>
            <a:ext cx="20116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52359" y="1645920"/>
            <a:ext cx="2011680" cy="54864"/>
          </a:xfrm>
          <a:prstGeom prst="rect">
            <a:avLst/>
          </a:prstGeom>
          <a:solidFill>
            <a:srgbClr val="6E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83879" y="1920240"/>
            <a:ext cx="548640" cy="548640"/>
          </a:xfrm>
          <a:prstGeom prst="ellipse">
            <a:avLst/>
          </a:prstGeom>
          <a:solidFill>
            <a:srgbClr val="6E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Segoe UI Emoji"/>
              </a:defRPr>
            </a:pPr>
            <a: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2359" y="2651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2D3250"/>
                </a:solidFill>
                <a:latin typeface="Calibri"/>
              </a:defRPr>
            </a:pPr>
            <a:r>
              <a:t>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19" y="32004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D3250"/>
                </a:solidFill>
                <a:latin typeface="Calibri"/>
              </a:defRPr>
            </a:pPr>
            <a:r>
              <a:t>Set</a:t>
            </a:r>
            <a:br/>
            <a:r>
              <a:t>Deadlines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19" y="39319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05A78"/>
                </a:solidFill>
                <a:latin typeface="Calibri"/>
              </a:defRPr>
            </a:pPr>
            <a:r>
              <a:t>Add a due date</a:t>
            </a:r>
            <a:br/>
            <a:r>
              <a:t>for each task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59" y="3017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2AA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784080" y="1645920"/>
            <a:ext cx="20116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784080" y="1645920"/>
            <a:ext cx="2011680" cy="54864"/>
          </a:xfrm>
          <a:prstGeom prst="rect">
            <a:avLst/>
          </a:prstGeom>
          <a:solidFill>
            <a:srgbClr val="86E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515600" y="1920240"/>
            <a:ext cx="548640" cy="548640"/>
          </a:xfrm>
          <a:prstGeom prst="ellipse">
            <a:avLst/>
          </a:prstGeom>
          <a:solidFill>
            <a:srgbClr val="86E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Segoe UI Emoji"/>
              </a:defRPr>
            </a:pPr>
            <a: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4080" y="2651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2D3250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21240" y="32004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D3250"/>
                </a:solidFill>
                <a:latin typeface="Calibri"/>
              </a:defRPr>
            </a:pPr>
            <a:r>
              <a:t>Review &amp;</a:t>
            </a:r>
            <a:br/>
            <a:r>
              <a:t>Improve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21240" y="39319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05A78"/>
                </a:solidFill>
                <a:latin typeface="Calibri"/>
              </a:defRPr>
            </a:pPr>
            <a:r>
              <a:t>Check progress</a:t>
            </a:r>
            <a:br/>
            <a:r>
              <a:t>and adjust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5486400"/>
            <a:ext cx="11247120" cy="91440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382FF"/>
                </a:solidFill>
                <a:latin typeface="Calibri"/>
              </a:defRPr>
            </a:pPr>
            <a:r>
              <a:t>✅ List Tasks    →    ✅ Prioritize    →    ✅ Allocate Time    →    ✅ Set Deadlines    →    ✅ Review Progress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82A0"/>
                </a:solidFill>
                <a:latin typeface="Calibri"/>
              </a:defRPr>
            </a:pPr>
            <a: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2743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73152" cy="5486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20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3250"/>
                </a:solidFill>
                <a:latin typeface="Calibri"/>
              </a:defRPr>
            </a:pPr>
            <a:r>
              <a:t>Popular Methods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68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882A0"/>
                </a:solidFill>
                <a:latin typeface="Calibri"/>
              </a:defRPr>
            </a:pPr>
            <a:r>
              <a:t>Proven techniques used by successful people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4572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" cy="1828800"/>
          </a:xfrm>
          <a:prstGeom prst="rect">
            <a:avLst/>
          </a:prstGeom>
          <a:solidFill>
            <a:srgbClr val="F8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60" y="2011680"/>
            <a:ext cx="731520" cy="731520"/>
          </a:xfrm>
          <a:prstGeom prst="ellipse">
            <a:avLst/>
          </a:prstGeom>
          <a:solidFill>
            <a:srgbClr val="F8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Segoe UI Emoji"/>
              </a:defRPr>
            </a:pPr>
            <a:r>
              <a:t>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828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3250"/>
                </a:solidFill>
                <a:latin typeface="Calibri"/>
              </a:defRPr>
            </a:pPr>
            <a:r>
              <a:t>Pomodoro Technique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28600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A78"/>
                </a:solidFill>
                <a:latin typeface="Calibri"/>
              </a:defRPr>
            </a:pPr>
            <a:r>
              <a:t>Work for 25 min + 5 min break</a:t>
            </a:r>
            <a:br/>
            <a:r>
              <a:t>Stay focused in short bursts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657600"/>
            <a:ext cx="4572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657600"/>
            <a:ext cx="54864" cy="1828800"/>
          </a:xfrm>
          <a:prstGeom prst="rect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60" y="4114800"/>
            <a:ext cx="731520" cy="731520"/>
          </a:xfrm>
          <a:prstGeom prst="ellipse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Segoe UI Emoji"/>
              </a:defRPr>
            </a:pPr>
            <a:r>
              <a:t>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931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3250"/>
                </a:solidFill>
                <a:latin typeface="Calibri"/>
              </a:defRPr>
            </a:pPr>
            <a:r>
              <a:t>80/20 Rule (Pareto)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38912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A78"/>
                </a:solidFill>
                <a:latin typeface="Calibri"/>
              </a:defRPr>
            </a:pPr>
            <a:r>
              <a:t>Focus on 20% tasks that give</a:t>
            </a:r>
            <a:br/>
            <a:r>
              <a:t>80% of results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D3250"/>
                </a:solidFill>
                <a:latin typeface="Calibri"/>
              </a:defRPr>
            </a:pPr>
            <a:r>
              <a:t>📋 Eisenhower Matrix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0" y="1920240"/>
            <a:ext cx="3017520" cy="2103120"/>
          </a:xfrm>
          <a:prstGeom prst="roundRect">
            <a:avLst/>
          </a:prstGeom>
          <a:solidFill>
            <a:srgbClr val="FCE7F3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0" y="1920240"/>
            <a:ext cx="3017520" cy="45720"/>
          </a:xfrm>
          <a:prstGeom prst="rect">
            <a:avLst/>
          </a:prstGeom>
          <a:solidFill>
            <a:srgbClr val="F8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06440" y="2057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89696"/>
                </a:solidFill>
                <a:latin typeface="Calibri"/>
              </a:defRPr>
            </a:pPr>
            <a:r>
              <a:t>DO FIRST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6440" y="237744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05A78"/>
                </a:solidFill>
                <a:latin typeface="Calibri"/>
              </a:defRPr>
            </a:pPr>
            <a:r>
              <a:t>Urgent + Important</a:t>
            </a:r>
            <a:br/>
            <a:br/>
            <a:r>
              <a:t>• Crisis tasks</a:t>
            </a:r>
            <a:br/>
            <a:r>
              <a:t>• Deadlines today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23960" y="1920240"/>
            <a:ext cx="3017520" cy="2103120"/>
          </a:xfrm>
          <a:prstGeom prst="roundRect">
            <a:avLst/>
          </a:prstGeom>
          <a:solidFill>
            <a:srgbClr val="DBEAF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23960" y="1920240"/>
            <a:ext cx="3017520" cy="45720"/>
          </a:xfrm>
          <a:prstGeom prst="rect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0" y="2057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82AAFF"/>
                </a:solidFill>
                <a:latin typeface="Calibri"/>
              </a:defRPr>
            </a:pPr>
            <a:r>
              <a:t>SCHEDULE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237744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05A78"/>
                </a:solidFill>
                <a:latin typeface="Calibri"/>
              </a:defRPr>
            </a:pPr>
            <a:r>
              <a:t>Not Urgent + Important</a:t>
            </a:r>
            <a:br/>
            <a:br/>
            <a:r>
              <a:t>• Study planning</a:t>
            </a:r>
            <a:br/>
            <a:r>
              <a:t>• Skill building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0" y="4160520"/>
            <a:ext cx="3017520" cy="2103120"/>
          </a:xfrm>
          <a:prstGeom prst="roundRect">
            <a:avLst/>
          </a:prstGeom>
          <a:solidFill>
            <a:srgbClr val="FEF3C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0" y="4160520"/>
            <a:ext cx="3017520" cy="45720"/>
          </a:xfrm>
          <a:prstGeom prst="rect">
            <a:avLst/>
          </a:prstGeom>
          <a:solidFill>
            <a:srgbClr val="FBBF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06440" y="4297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BBF92"/>
                </a:solidFill>
                <a:latin typeface="Calibri"/>
              </a:defRPr>
            </a:pPr>
            <a:r>
              <a:t>DELEGATE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06440" y="4617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05A78"/>
                </a:solidFill>
                <a:latin typeface="Calibri"/>
              </a:defRPr>
            </a:pPr>
            <a:r>
              <a:t>Urgent + Not Important</a:t>
            </a:r>
            <a:br/>
            <a:br/>
            <a:r>
              <a:t>• Some emails</a:t>
            </a:r>
            <a:br/>
            <a:r>
              <a:t>• Phone calls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23960" y="4160520"/>
            <a:ext cx="3017520" cy="2103120"/>
          </a:xfrm>
          <a:prstGeom prst="roundRect">
            <a:avLst/>
          </a:prstGeom>
          <a:solidFill>
            <a:srgbClr val="EDE9F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823960" y="4160520"/>
            <a:ext cx="3017520" cy="457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0" y="4297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A78BFA"/>
                </a:solidFill>
                <a:latin typeface="Calibri"/>
              </a:defRPr>
            </a:pPr>
            <a:r>
              <a:t>ELIMINATE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0" y="4617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05A78"/>
                </a:solidFill>
                <a:latin typeface="Calibri"/>
              </a:defRPr>
            </a:pPr>
            <a:r>
              <a:t>Not Urgent + Not Important</a:t>
            </a:r>
            <a:br/>
            <a:br/>
            <a:r>
              <a:t>• Social media</a:t>
            </a:r>
            <a:br/>
            <a:r>
              <a:t>• Time wasters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1691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882A0"/>
                </a:solidFill>
                <a:latin typeface="Calibri"/>
              </a:defRPr>
            </a:pPr>
            <a:r>
              <a:t>← URGENT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0" y="1691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882A0"/>
                </a:solidFill>
                <a:latin typeface="Calibri"/>
              </a:defRPr>
            </a:pPr>
            <a:r>
              <a:t>NOT URGENT 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82A0"/>
                </a:solidFill>
                <a:latin typeface="Calibri"/>
              </a:defRPr>
            </a:pPr>
            <a: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2743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73152" cy="5486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20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3250"/>
                </a:solidFill>
                <a:latin typeface="Calibri"/>
              </a:defRPr>
            </a:pPr>
            <a:r>
              <a:t>Tools for Time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68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882A0"/>
                </a:solidFill>
                <a:latin typeface="Calibri"/>
              </a:defRPr>
            </a:pPr>
            <a:r>
              <a:t>Digital tools that help you stay organized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2651760" cy="4572000"/>
          </a:xfrm>
          <a:prstGeom prst="roundRect">
            <a:avLst/>
          </a:prstGeom>
          <a:solidFill>
            <a:srgbClr val="DBEAF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2651760" cy="54864"/>
          </a:xfrm>
          <a:prstGeom prst="rect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71600" y="1783080"/>
            <a:ext cx="822960" cy="822960"/>
          </a:xfrm>
          <a:prstGeom prst="ellipse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Segoe UI Emoji"/>
              </a:defRPr>
            </a:pPr>
            <a:r>
              <a:t>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432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D3250"/>
                </a:solidFill>
                <a:latin typeface="Calibri"/>
              </a:defRPr>
            </a:pPr>
            <a:r>
              <a:t>Google</a:t>
            </a:r>
            <a:br/>
            <a:r>
              <a:t>Calendar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918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05A78"/>
                </a:solidFill>
                <a:latin typeface="Calibri"/>
              </a:defRPr>
            </a:pPr>
            <a:r>
              <a:t>Schedule events</a:t>
            </a:r>
            <a:br/>
            <a:r>
              <a:t>&amp; set reminders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931920"/>
            <a:ext cx="21031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4169664"/>
            <a:ext cx="91440" cy="91440"/>
          </a:xfrm>
          <a:prstGeom prst="ellipse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1148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A78"/>
                </a:solidFill>
                <a:latin typeface="Calibri"/>
              </a:defRPr>
            </a:pPr>
            <a:r>
              <a:t>Free to use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535424"/>
            <a:ext cx="91440" cy="91440"/>
          </a:xfrm>
          <a:prstGeom prst="ellipse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4805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A78"/>
                </a:solidFill>
                <a:latin typeface="Calibri"/>
              </a:defRPr>
            </a:pPr>
            <a:r>
              <a:t>Syncs all devices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901184"/>
            <a:ext cx="91440" cy="91440"/>
          </a:xfrm>
          <a:prstGeom prst="ellipse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8463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A78"/>
                </a:solidFill>
                <a:latin typeface="Calibri"/>
              </a:defRPr>
            </a:pPr>
            <a:r>
              <a:t>Color coding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5266944"/>
            <a:ext cx="91440" cy="91440"/>
          </a:xfrm>
          <a:prstGeom prst="ellipse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2120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A78"/>
                </a:solidFill>
                <a:latin typeface="Calibri"/>
              </a:defRPr>
            </a:pPr>
            <a:r>
              <a:t>Reminders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83280" y="1554480"/>
            <a:ext cx="2651760" cy="4572000"/>
          </a:xfrm>
          <a:prstGeom prst="roundRect">
            <a:avLst/>
          </a:prstGeom>
          <a:solidFill>
            <a:srgbClr val="EDE9F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83280" y="1554480"/>
            <a:ext cx="2651760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297680" y="1783080"/>
            <a:ext cx="822960" cy="82296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Segoe UI Emoji"/>
              </a:defRPr>
            </a:pPr>
            <a:r>
              <a:t>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27432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D3250"/>
                </a:solidFill>
                <a:latin typeface="Calibri"/>
              </a:defRPr>
            </a:pPr>
            <a:r>
              <a:t>Notion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32918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05A78"/>
                </a:solidFill>
                <a:latin typeface="Calibri"/>
              </a:defRPr>
            </a:pPr>
            <a:r>
              <a:t>Notes, tasks &amp;</a:t>
            </a:r>
            <a:br/>
            <a:r>
              <a:t>project planning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0" y="3931920"/>
            <a:ext cx="21031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657600" y="4169664"/>
            <a:ext cx="91440" cy="9144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86200" y="41148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A78"/>
                </a:solidFill>
                <a:latin typeface="Calibri"/>
              </a:defRPr>
            </a:pPr>
            <a:r>
              <a:t>All-in-one tool</a:t>
            </a:r>
          </a:p>
        </p:txBody>
      </p:sp>
      <p:sp>
        <p:nvSpPr>
          <p:cNvPr id="29" name="Oval 28"/>
          <p:cNvSpPr/>
          <p:nvPr/>
        </p:nvSpPr>
        <p:spPr>
          <a:xfrm>
            <a:off x="3657600" y="4535424"/>
            <a:ext cx="91440" cy="9144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86200" y="44805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A78"/>
                </a:solidFill>
                <a:latin typeface="Calibri"/>
              </a:defRPr>
            </a:pPr>
            <a:r>
              <a:t>Templates</a:t>
            </a:r>
          </a:p>
        </p:txBody>
      </p:sp>
      <p:sp>
        <p:nvSpPr>
          <p:cNvPr id="31" name="Oval 30"/>
          <p:cNvSpPr/>
          <p:nvPr/>
        </p:nvSpPr>
        <p:spPr>
          <a:xfrm>
            <a:off x="3657600" y="4901184"/>
            <a:ext cx="91440" cy="9144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86200" y="48463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A78"/>
                </a:solidFill>
                <a:latin typeface="Calibri"/>
              </a:defRPr>
            </a:pPr>
            <a:r>
              <a:t>Team sharing</a:t>
            </a:r>
          </a:p>
        </p:txBody>
      </p:sp>
      <p:sp>
        <p:nvSpPr>
          <p:cNvPr id="33" name="Oval 32"/>
          <p:cNvSpPr/>
          <p:nvPr/>
        </p:nvSpPr>
        <p:spPr>
          <a:xfrm>
            <a:off x="3657600" y="5266944"/>
            <a:ext cx="91440" cy="9144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86200" y="52120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A78"/>
                </a:solidFill>
                <a:latin typeface="Calibri"/>
              </a:defRPr>
            </a:pPr>
            <a:r>
              <a:t>Databases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1554480"/>
            <a:ext cx="2651760" cy="4572000"/>
          </a:xfrm>
          <a:prstGeom prst="roundRect">
            <a:avLst/>
          </a:prstGeom>
          <a:solidFill>
            <a:srgbClr val="D1FAE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09360" y="1554480"/>
            <a:ext cx="2651760" cy="54864"/>
          </a:xfrm>
          <a:prstGeom prst="rect">
            <a:avLst/>
          </a:prstGeom>
          <a:solidFill>
            <a:srgbClr val="86E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223760" y="1783080"/>
            <a:ext cx="822960" cy="822960"/>
          </a:xfrm>
          <a:prstGeom prst="ellipse">
            <a:avLst/>
          </a:prstGeom>
          <a:solidFill>
            <a:srgbClr val="86E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Segoe UI Emoji"/>
              </a:defRPr>
            </a:pPr>
            <a:r>
              <a:t>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27432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D3250"/>
                </a:solidFill>
                <a:latin typeface="Calibri"/>
              </a:defRPr>
            </a:pPr>
            <a:r>
              <a:t>To-Do</a:t>
            </a:r>
            <a:br/>
            <a:r>
              <a:t>Apps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32918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05A78"/>
                </a:solidFill>
                <a:latin typeface="Calibri"/>
              </a:defRPr>
            </a:pPr>
            <a:r>
              <a:t>Track daily tasks</a:t>
            </a:r>
            <a:br/>
            <a:r>
              <a:t>&amp; checklists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0" y="3931920"/>
            <a:ext cx="21031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583680" y="4169664"/>
            <a:ext cx="91440" cy="91440"/>
          </a:xfrm>
          <a:prstGeom prst="ellipse">
            <a:avLst/>
          </a:prstGeom>
          <a:solidFill>
            <a:srgbClr val="86E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12280" y="41148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A78"/>
                </a:solidFill>
                <a:latin typeface="Calibri"/>
              </a:defRPr>
            </a:pPr>
            <a:r>
              <a:t>Simple lists</a:t>
            </a:r>
          </a:p>
        </p:txBody>
      </p:sp>
      <p:sp>
        <p:nvSpPr>
          <p:cNvPr id="43" name="Oval 42"/>
          <p:cNvSpPr/>
          <p:nvPr/>
        </p:nvSpPr>
        <p:spPr>
          <a:xfrm>
            <a:off x="6583680" y="4535424"/>
            <a:ext cx="91440" cy="91440"/>
          </a:xfrm>
          <a:prstGeom prst="ellipse">
            <a:avLst/>
          </a:prstGeom>
          <a:solidFill>
            <a:srgbClr val="86E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12280" y="44805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A78"/>
                </a:solidFill>
                <a:latin typeface="Calibri"/>
              </a:defRPr>
            </a:pPr>
            <a:r>
              <a:t>Due dates</a:t>
            </a:r>
          </a:p>
        </p:txBody>
      </p:sp>
      <p:sp>
        <p:nvSpPr>
          <p:cNvPr id="45" name="Oval 44"/>
          <p:cNvSpPr/>
          <p:nvPr/>
        </p:nvSpPr>
        <p:spPr>
          <a:xfrm>
            <a:off x="6583680" y="4901184"/>
            <a:ext cx="91440" cy="91440"/>
          </a:xfrm>
          <a:prstGeom prst="ellipse">
            <a:avLst/>
          </a:prstGeom>
          <a:solidFill>
            <a:srgbClr val="86E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12280" y="48463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A78"/>
                </a:solidFill>
                <a:latin typeface="Calibri"/>
              </a:defRPr>
            </a:pPr>
            <a:r>
              <a:t>Priorities</a:t>
            </a:r>
          </a:p>
        </p:txBody>
      </p:sp>
      <p:sp>
        <p:nvSpPr>
          <p:cNvPr id="47" name="Oval 46"/>
          <p:cNvSpPr/>
          <p:nvPr/>
        </p:nvSpPr>
        <p:spPr>
          <a:xfrm>
            <a:off x="6583680" y="5266944"/>
            <a:ext cx="91440" cy="91440"/>
          </a:xfrm>
          <a:prstGeom prst="ellipse">
            <a:avLst/>
          </a:prstGeom>
          <a:solidFill>
            <a:srgbClr val="86E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12280" y="52120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A78"/>
                </a:solidFill>
                <a:latin typeface="Calibri"/>
              </a:defRPr>
            </a:pPr>
            <a:r>
              <a:t>Daily planner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235440" y="1554480"/>
            <a:ext cx="2651760" cy="4572000"/>
          </a:xfrm>
          <a:prstGeom prst="roundRect">
            <a:avLst/>
          </a:prstGeom>
          <a:solidFill>
            <a:srgbClr val="FEF3C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235440" y="1554480"/>
            <a:ext cx="2651760" cy="54864"/>
          </a:xfrm>
          <a:prstGeom prst="rect">
            <a:avLst/>
          </a:prstGeom>
          <a:solidFill>
            <a:srgbClr val="FBBF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149840" y="1783080"/>
            <a:ext cx="822960" cy="822960"/>
          </a:xfrm>
          <a:prstGeom prst="ellipse">
            <a:avLst/>
          </a:prstGeom>
          <a:solidFill>
            <a:srgbClr val="FBBF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Segoe UI Emoji"/>
              </a:defRPr>
            </a:pPr>
            <a:r>
              <a:t>⏱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26880" y="27432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D3250"/>
                </a:solidFill>
                <a:latin typeface="Calibri"/>
              </a:defRPr>
            </a:pPr>
            <a:r>
              <a:t>Pomodoro</a:t>
            </a:r>
            <a:br/>
            <a:r>
              <a:t>Timers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26880" y="32918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05A78"/>
                </a:solidFill>
                <a:latin typeface="Calibri"/>
              </a:defRPr>
            </a:pPr>
            <a:r>
              <a:t>Focus timer with</a:t>
            </a:r>
            <a:br/>
            <a:r>
              <a:t>work + breaks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509760" y="3931920"/>
            <a:ext cx="21031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509760" y="4169664"/>
            <a:ext cx="91440" cy="91440"/>
          </a:xfrm>
          <a:prstGeom prst="ellipse">
            <a:avLst/>
          </a:prstGeom>
          <a:solidFill>
            <a:srgbClr val="FBBF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38360" y="41148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A78"/>
                </a:solidFill>
                <a:latin typeface="Calibri"/>
              </a:defRPr>
            </a:pPr>
            <a:r>
              <a:t>25 min focus</a:t>
            </a:r>
          </a:p>
        </p:txBody>
      </p:sp>
      <p:sp>
        <p:nvSpPr>
          <p:cNvPr id="57" name="Oval 56"/>
          <p:cNvSpPr/>
          <p:nvPr/>
        </p:nvSpPr>
        <p:spPr>
          <a:xfrm>
            <a:off x="9509760" y="4535424"/>
            <a:ext cx="91440" cy="91440"/>
          </a:xfrm>
          <a:prstGeom prst="ellipse">
            <a:avLst/>
          </a:prstGeom>
          <a:solidFill>
            <a:srgbClr val="FBBF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738360" y="44805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A78"/>
                </a:solidFill>
                <a:latin typeface="Calibri"/>
              </a:defRPr>
            </a:pPr>
            <a:r>
              <a:t>5 min breaks</a:t>
            </a:r>
          </a:p>
        </p:txBody>
      </p:sp>
      <p:sp>
        <p:nvSpPr>
          <p:cNvPr id="59" name="Oval 58"/>
          <p:cNvSpPr/>
          <p:nvPr/>
        </p:nvSpPr>
        <p:spPr>
          <a:xfrm>
            <a:off x="9509760" y="4901184"/>
            <a:ext cx="91440" cy="91440"/>
          </a:xfrm>
          <a:prstGeom prst="ellipse">
            <a:avLst/>
          </a:prstGeom>
          <a:solidFill>
            <a:srgbClr val="FBBF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738360" y="48463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A78"/>
                </a:solidFill>
                <a:latin typeface="Calibri"/>
              </a:defRPr>
            </a:pPr>
            <a:r>
              <a:t>Track sessions</a:t>
            </a:r>
          </a:p>
        </p:txBody>
      </p:sp>
      <p:sp>
        <p:nvSpPr>
          <p:cNvPr id="61" name="Oval 60"/>
          <p:cNvSpPr/>
          <p:nvPr/>
        </p:nvSpPr>
        <p:spPr>
          <a:xfrm>
            <a:off x="9509760" y="5266944"/>
            <a:ext cx="91440" cy="91440"/>
          </a:xfrm>
          <a:prstGeom prst="ellipse">
            <a:avLst/>
          </a:prstGeom>
          <a:solidFill>
            <a:srgbClr val="FBBF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738360" y="52120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A78"/>
                </a:solidFill>
                <a:latin typeface="Calibri"/>
              </a:defRPr>
            </a:pPr>
            <a:r>
              <a:t>Stay focused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82A0"/>
                </a:solidFill>
                <a:latin typeface="Calibri"/>
              </a:defRPr>
            </a:pPr>
            <a: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2743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73152" cy="5486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20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3250"/>
                </a:solidFill>
                <a:latin typeface="Calibri"/>
              </a:defRPr>
            </a:pPr>
            <a:r>
              <a:t>Tips for Students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68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882A0"/>
                </a:solidFill>
                <a:latin typeface="Calibri"/>
              </a:defRPr>
            </a:pPr>
            <a:r>
              <a:t>Easy habits to manage your time better</a:t>
            </a:r>
          </a:p>
        </p:txBody>
      </p:sp>
      <p:sp>
        <p:nvSpPr>
          <p:cNvPr id="7" name="Oval 6"/>
          <p:cNvSpPr/>
          <p:nvPr/>
        </p:nvSpPr>
        <p:spPr>
          <a:xfrm>
            <a:off x="10515600" y="-457200"/>
            <a:ext cx="2286000" cy="228600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11247120" cy="914400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554480"/>
            <a:ext cx="411480" cy="411480"/>
          </a:xfrm>
          <a:prstGeom prst="roundRect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3619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463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D3250"/>
                </a:solidFill>
                <a:latin typeface="Calibri"/>
              </a:defRPr>
            </a:pPr>
            <a:r>
              <a:t>Do One Task at a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8288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A78"/>
                </a:solidFill>
                <a:latin typeface="Calibri"/>
              </a:defRPr>
            </a:pPr>
            <a:r>
              <a:t>Multitasking reduces quality.</a:t>
            </a:r>
            <a:br/>
            <a:r>
              <a:t>Focus on a single task for best results.</a:t>
            </a:r>
          </a:p>
        </p:txBody>
      </p:sp>
      <p:sp>
        <p:nvSpPr>
          <p:cNvPr id="13" name="Oval 12"/>
          <p:cNvSpPr/>
          <p:nvPr/>
        </p:nvSpPr>
        <p:spPr>
          <a:xfrm>
            <a:off x="10241280" y="1508760"/>
            <a:ext cx="548640" cy="548640"/>
          </a:xfrm>
          <a:prstGeom prst="ellipse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Segoe UI Emoji"/>
              </a:defRPr>
            </a:pPr>
            <a:r>
              <a:t>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606040"/>
            <a:ext cx="411480" cy="411480"/>
          </a:xfrm>
          <a:prstGeom prst="roundRect">
            <a:avLst/>
          </a:prstGeom>
          <a:solidFill>
            <a:srgbClr val="86E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58775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514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D3250"/>
                </a:solidFill>
                <a:latin typeface="Calibri"/>
              </a:defRPr>
            </a:pPr>
            <a:r>
              <a:t>Take Small Breaks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28803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A78"/>
                </a:solidFill>
                <a:latin typeface="Calibri"/>
              </a:defRPr>
            </a:pPr>
            <a:r>
              <a:t>Short breaks help recharge your brain.</a:t>
            </a:r>
            <a:br/>
            <a:r>
              <a:t>Try 5-10 minutes between study sessions.</a:t>
            </a:r>
          </a:p>
        </p:txBody>
      </p:sp>
      <p:sp>
        <p:nvSpPr>
          <p:cNvPr id="18" name="Oval 17"/>
          <p:cNvSpPr/>
          <p:nvPr/>
        </p:nvSpPr>
        <p:spPr>
          <a:xfrm>
            <a:off x="10241280" y="2560320"/>
            <a:ext cx="548640" cy="548640"/>
          </a:xfrm>
          <a:prstGeom prst="ellipse">
            <a:avLst/>
          </a:prstGeom>
          <a:solidFill>
            <a:srgbClr val="86E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Segoe UI Emoji"/>
              </a:defRPr>
            </a:pPr>
            <a:r>
              <a:t>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474720"/>
            <a:ext cx="11247120" cy="914400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" y="3657600"/>
            <a:ext cx="411480" cy="41148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63931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566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D3250"/>
                </a:solidFill>
                <a:latin typeface="Calibri"/>
              </a:defRPr>
            </a:pPr>
            <a:r>
              <a:t>Plan Your 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3931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A78"/>
                </a:solidFill>
                <a:latin typeface="Calibri"/>
              </a:defRPr>
            </a:pPr>
            <a:r>
              <a:t>Spend 5 minutes each morning</a:t>
            </a:r>
            <a:br/>
            <a:r>
              <a:t>writing your plan for the day.</a:t>
            </a:r>
          </a:p>
        </p:txBody>
      </p:sp>
      <p:sp>
        <p:nvSpPr>
          <p:cNvPr id="24" name="Oval 23"/>
          <p:cNvSpPr/>
          <p:nvPr/>
        </p:nvSpPr>
        <p:spPr>
          <a:xfrm>
            <a:off x="10241280" y="3611880"/>
            <a:ext cx="548640" cy="54864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Segoe UI Emoji"/>
              </a:defRPr>
            </a:pPr>
            <a:r>
              <a:t>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709159"/>
            <a:ext cx="411480" cy="411480"/>
          </a:xfrm>
          <a:prstGeom prst="roundRect">
            <a:avLst/>
          </a:prstGeom>
          <a:solidFill>
            <a:srgbClr val="F8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690871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461771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D3250"/>
                </a:solidFill>
                <a:latin typeface="Calibri"/>
              </a:defRPr>
            </a:pPr>
            <a:r>
              <a:t>Avoid Distractions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4983479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A78"/>
                </a:solidFill>
                <a:latin typeface="Calibri"/>
              </a:defRPr>
            </a:pPr>
            <a:r>
              <a:t>Keep phone away while studying.</a:t>
            </a:r>
            <a:br/>
            <a:r>
              <a:t>Find a quiet place to focus.</a:t>
            </a:r>
          </a:p>
        </p:txBody>
      </p:sp>
      <p:sp>
        <p:nvSpPr>
          <p:cNvPr id="29" name="Oval 28"/>
          <p:cNvSpPr/>
          <p:nvPr/>
        </p:nvSpPr>
        <p:spPr>
          <a:xfrm>
            <a:off x="10241280" y="4663439"/>
            <a:ext cx="548640" cy="548640"/>
          </a:xfrm>
          <a:prstGeom prst="ellipse">
            <a:avLst/>
          </a:prstGeom>
          <a:solidFill>
            <a:srgbClr val="F8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Segoe UI Emoji"/>
              </a:defRPr>
            </a:pPr>
            <a:r>
              <a:t>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577840"/>
            <a:ext cx="11247120" cy="914400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40080" y="5760720"/>
            <a:ext cx="411480" cy="411480"/>
          </a:xfrm>
          <a:prstGeom prst="roundRect">
            <a:avLst/>
          </a:prstGeom>
          <a:solidFill>
            <a:srgbClr val="FBBF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74243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5669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D3250"/>
                </a:solidFill>
                <a:latin typeface="Calibri"/>
              </a:defRPr>
            </a:pPr>
            <a:r>
              <a:t>Set Small Goals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6035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A78"/>
                </a:solidFill>
                <a:latin typeface="Calibri"/>
              </a:defRPr>
            </a:pPr>
            <a:r>
              <a:t>Break big tasks into small steps.</a:t>
            </a:r>
            <a:br/>
            <a:r>
              <a:t>Celebrate each small win!</a:t>
            </a:r>
          </a:p>
        </p:txBody>
      </p:sp>
      <p:sp>
        <p:nvSpPr>
          <p:cNvPr id="35" name="Oval 34"/>
          <p:cNvSpPr/>
          <p:nvPr/>
        </p:nvSpPr>
        <p:spPr>
          <a:xfrm>
            <a:off x="10241280" y="5715000"/>
            <a:ext cx="548640" cy="548640"/>
          </a:xfrm>
          <a:prstGeom prst="ellipse">
            <a:avLst/>
          </a:prstGeom>
          <a:solidFill>
            <a:srgbClr val="FBBF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Segoe UI Emoji"/>
              </a:defRPr>
            </a:pPr>
            <a:r>
              <a:t>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82A0"/>
                </a:solidFill>
                <a:latin typeface="Calibri"/>
              </a:defRPr>
            </a:pPr>
            <a: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2743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73152" cy="5486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20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3250"/>
                </a:solidFill>
                <a:latin typeface="Calibri"/>
              </a:defRPr>
            </a:pPr>
            <a:r>
              <a:t>Real-Life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68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882A0"/>
                </a:solidFill>
                <a:latin typeface="Calibri"/>
              </a:defRPr>
            </a:pPr>
            <a:r>
              <a:t>A student's journey with time 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5303520" cy="4754880"/>
          </a:xfrm>
          <a:prstGeom prst="roundRect">
            <a:avLst/>
          </a:prstGeom>
          <a:solidFill>
            <a:srgbClr val="FCE7F3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463040"/>
            <a:ext cx="5303520" cy="640080"/>
          </a:xfrm>
          <a:prstGeom prst="roundRect">
            <a:avLst/>
          </a:prstGeom>
          <a:solidFill>
            <a:srgbClr val="F8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7276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😰 BEFORE (No Time Management)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77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A78"/>
                </a:solidFill>
                <a:latin typeface="Calibri"/>
              </a:defRPr>
            </a:pPr>
            <a:r>
              <a:t>❌  Wakes up late, no plan for the 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71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A78"/>
                </a:solidFill>
                <a:latin typeface="Calibri"/>
              </a:defRPr>
            </a:pPr>
            <a:r>
              <a:t>❌  Scrolls phone for 2 hours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566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A78"/>
                </a:solidFill>
                <a:latin typeface="Calibri"/>
              </a:defRPr>
            </a:pPr>
            <a:r>
              <a:t>❌  Starts homework at night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160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A78"/>
                </a:solidFill>
                <a:latin typeface="Calibri"/>
              </a:defRPr>
            </a:pPr>
            <a:r>
              <a:t>❌  Feels stressed and tired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A78"/>
                </a:solidFill>
                <a:latin typeface="Calibri"/>
              </a:defRPr>
            </a:pPr>
            <a:r>
              <a:t>❌  Misses deadlines often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349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A78"/>
                </a:solidFill>
                <a:latin typeface="Calibri"/>
              </a:defRPr>
            </a:pPr>
            <a:r>
              <a:t>❌  No time for fun or hobbies</a:t>
            </a:r>
          </a:p>
        </p:txBody>
      </p:sp>
      <p:sp>
        <p:nvSpPr>
          <p:cNvPr id="16" name="Oval 15"/>
          <p:cNvSpPr/>
          <p:nvPr/>
        </p:nvSpPr>
        <p:spPr>
          <a:xfrm>
            <a:off x="5669280" y="3291840"/>
            <a:ext cx="731520" cy="73152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 Emoji"/>
              </a:defRPr>
            </a:pPr>
            <a:r>
              <a:t>VS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463040"/>
            <a:ext cx="5303520" cy="4754880"/>
          </a:xfrm>
          <a:prstGeom prst="roundRect">
            <a:avLst/>
          </a:prstGeom>
          <a:solidFill>
            <a:srgbClr val="D1FAE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0" y="1463040"/>
            <a:ext cx="5303520" cy="640080"/>
          </a:xfrm>
          <a:prstGeom prst="roundRect">
            <a:avLst/>
          </a:prstGeom>
          <a:solidFill>
            <a:srgbClr val="86E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157276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😊 AFTER (With Time Management)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377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A78"/>
                </a:solidFill>
                <a:latin typeface="Calibri"/>
              </a:defRPr>
            </a:pPr>
            <a:r>
              <a:t>✅  Wakes up early, plans the 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2971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A78"/>
                </a:solidFill>
                <a:latin typeface="Calibri"/>
              </a:defRPr>
            </a:pPr>
            <a:r>
              <a:t>✅  Limits phone to 30 minutes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566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A78"/>
                </a:solidFill>
                <a:latin typeface="Calibri"/>
              </a:defRPr>
            </a:pPr>
            <a:r>
              <a:t>✅  Finishes homework by evening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4160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A78"/>
                </a:solidFill>
                <a:latin typeface="Calibri"/>
              </a:defRPr>
            </a:pPr>
            <a:r>
              <a:t>✅  Feels calm and confident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A78"/>
                </a:solidFill>
                <a:latin typeface="Calibri"/>
              </a:defRPr>
            </a:pPr>
            <a:r>
              <a:t>✅  Submits work on 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5349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A78"/>
                </a:solidFill>
                <a:latin typeface="Calibri"/>
              </a:defRPr>
            </a:pPr>
            <a:r>
              <a:t>✅  Has time for sports &amp; hobbies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82A0"/>
                </a:solidFill>
                <a:latin typeface="Calibri"/>
              </a:defRPr>
            </a:pPr>
            <a: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2743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73152" cy="5486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20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3250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68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882A0"/>
                </a:solidFill>
                <a:latin typeface="Calibri"/>
              </a:defRPr>
            </a:pPr>
            <a:r>
              <a:t>Key takeaways from our presentation</a:t>
            </a:r>
          </a:p>
        </p:txBody>
      </p:sp>
      <p:sp>
        <p:nvSpPr>
          <p:cNvPr id="7" name="Oval 6"/>
          <p:cNvSpPr/>
          <p:nvPr/>
        </p:nvSpPr>
        <p:spPr>
          <a:xfrm>
            <a:off x="5363870" y="3108960"/>
            <a:ext cx="1463040" cy="146304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Segoe UI Emoji"/>
              </a:defRPr>
            </a:pPr>
            <a:r>
              <a:t>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72430" y="46177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3250"/>
                </a:solidFill>
                <a:latin typeface="Calibri"/>
              </a:defRPr>
            </a:pPr>
            <a:r>
              <a:t>Success</a:t>
            </a:r>
          </a:p>
        </p:txBody>
      </p:sp>
      <p:sp>
        <p:nvSpPr>
          <p:cNvPr id="9" name="Oval 8"/>
          <p:cNvSpPr/>
          <p:nvPr/>
        </p:nvSpPr>
        <p:spPr>
          <a:xfrm>
            <a:off x="3612735" y="2194560"/>
            <a:ext cx="1005840" cy="1005840"/>
          </a:xfrm>
          <a:prstGeom prst="ellipse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Segoe UI Emoji"/>
              </a:defRPr>
            </a:pPr>
            <a:r>
              <a:t>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5575" y="324612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D3250"/>
                </a:solidFill>
                <a:latin typeface="Calibri"/>
              </a:defRPr>
            </a:pPr>
            <a:r>
              <a:t>Time</a:t>
            </a:r>
            <a:br/>
            <a:r>
              <a:t>Management</a:t>
            </a:r>
            <a:br/>
            <a:r>
              <a:t>Saves Time</a:t>
            </a:r>
          </a:p>
        </p:txBody>
      </p:sp>
      <p:sp>
        <p:nvSpPr>
          <p:cNvPr id="11" name="Oval 10"/>
          <p:cNvSpPr/>
          <p:nvPr/>
        </p:nvSpPr>
        <p:spPr>
          <a:xfrm>
            <a:off x="5592470" y="1051560"/>
            <a:ext cx="1005840" cy="1005840"/>
          </a:xfrm>
          <a:prstGeom prst="ellipse">
            <a:avLst/>
          </a:prstGeom>
          <a:solidFill>
            <a:srgbClr val="86E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Segoe UI Emoji"/>
              </a:defRPr>
            </a:pPr>
            <a:r>
              <a:t>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55310" y="210312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D3250"/>
                </a:solidFill>
                <a:latin typeface="Calibri"/>
              </a:defRPr>
            </a:pPr>
            <a:r>
              <a:t>Makes</a:t>
            </a:r>
            <a:br/>
            <a:r>
              <a:t>Life</a:t>
            </a:r>
            <a:br/>
            <a:r>
              <a:t>Easy</a:t>
            </a:r>
          </a:p>
        </p:txBody>
      </p:sp>
      <p:sp>
        <p:nvSpPr>
          <p:cNvPr id="13" name="Oval 12"/>
          <p:cNvSpPr/>
          <p:nvPr/>
        </p:nvSpPr>
        <p:spPr>
          <a:xfrm>
            <a:off x="7572204" y="2194560"/>
            <a:ext cx="1005840" cy="1005840"/>
          </a:xfrm>
          <a:prstGeom prst="ellipse">
            <a:avLst/>
          </a:prstGeom>
          <a:solidFill>
            <a:srgbClr val="FBBF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Segoe UI Emoji"/>
              </a:defRPr>
            </a:pPr>
            <a:r>
              <a:t>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35044" y="324612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D3250"/>
                </a:solidFill>
                <a:latin typeface="Calibri"/>
              </a:defRPr>
            </a:pPr>
            <a:r>
              <a:t>Small</a:t>
            </a:r>
            <a:br/>
            <a:r>
              <a:t>Habits =</a:t>
            </a:r>
            <a:br/>
            <a:r>
              <a:t>Big Success</a:t>
            </a:r>
          </a:p>
        </p:txBody>
      </p:sp>
      <p:sp>
        <p:nvSpPr>
          <p:cNvPr id="15" name="Oval 14"/>
          <p:cNvSpPr/>
          <p:nvPr/>
        </p:nvSpPr>
        <p:spPr>
          <a:xfrm>
            <a:off x="7572204" y="4480560"/>
            <a:ext cx="1005840" cy="1005840"/>
          </a:xfrm>
          <a:prstGeom prst="ellipse">
            <a:avLst/>
          </a:prstGeom>
          <a:solidFill>
            <a:srgbClr val="F4A3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Segoe UI Emoji"/>
              </a:defRPr>
            </a:pPr>
            <a:r>
              <a:t>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35044" y="553212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D3250"/>
                </a:solidFill>
                <a:latin typeface="Calibri"/>
              </a:defRPr>
            </a:pPr>
            <a:r>
              <a:t>Stay</a:t>
            </a:r>
            <a:br/>
            <a:r>
              <a:t>Focused &amp;</a:t>
            </a:r>
            <a:br/>
            <a:r>
              <a:t>Organized</a:t>
            </a:r>
          </a:p>
        </p:txBody>
      </p:sp>
      <p:sp>
        <p:nvSpPr>
          <p:cNvPr id="17" name="Oval 16"/>
          <p:cNvSpPr/>
          <p:nvPr/>
        </p:nvSpPr>
        <p:spPr>
          <a:xfrm>
            <a:off x="5592470" y="5623560"/>
            <a:ext cx="1005840" cy="1005840"/>
          </a:xfrm>
          <a:prstGeom prst="ellipse">
            <a:avLst/>
          </a:prstGeom>
          <a:solidFill>
            <a:srgbClr val="6E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Segoe UI Emoji"/>
              </a:defRPr>
            </a:pPr>
            <a:r>
              <a:t>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55310" y="667512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D3250"/>
                </a:solidFill>
                <a:latin typeface="Calibri"/>
              </a:defRPr>
            </a:pPr>
            <a:r>
              <a:t>Better</a:t>
            </a:r>
            <a:br/>
            <a:r>
              <a:t>Grades &amp;</a:t>
            </a:r>
            <a:br/>
            <a:r>
              <a:t>Results</a:t>
            </a:r>
          </a:p>
        </p:txBody>
      </p:sp>
      <p:sp>
        <p:nvSpPr>
          <p:cNvPr id="19" name="Oval 18"/>
          <p:cNvSpPr/>
          <p:nvPr/>
        </p:nvSpPr>
        <p:spPr>
          <a:xfrm>
            <a:off x="3612735" y="4480560"/>
            <a:ext cx="1005840" cy="1005840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Segoe UI Emoji"/>
              </a:defRPr>
            </a:pPr>
            <a:r>
              <a:t>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5575" y="553212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D3250"/>
                </a:solidFill>
                <a:latin typeface="Calibri"/>
              </a:defRPr>
            </a:pPr>
            <a:r>
              <a:t>Achieve</a:t>
            </a:r>
            <a:br/>
            <a:r>
              <a:t>Your</a:t>
            </a:r>
            <a:br/>
            <a:r>
              <a:t>Goals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71600" y="6035040"/>
            <a:ext cx="9418320" cy="6400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45920" y="6126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B5CF6"/>
                </a:solidFill>
                <a:latin typeface="Calibri"/>
              </a:defRPr>
            </a:pPr>
            <a:r>
              <a:t>💡 "The key is not to prioritize what's on your schedule, but to schedule your priorities."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82A0"/>
                </a:solidFill>
                <a:latin typeface="Calibri"/>
              </a:defRPr>
            </a:pPr>
            <a: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36576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-914400"/>
            <a:ext cx="2743200" cy="274320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914400" y="5029200"/>
            <a:ext cx="2743200" cy="2743200"/>
          </a:xfrm>
          <a:prstGeom prst="ellipse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0" y="5029200"/>
            <a:ext cx="2743200" cy="2743200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286000" y="1371600"/>
            <a:ext cx="73152" cy="73152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560320" y="1371600"/>
            <a:ext cx="73152" cy="73152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34640" y="1371600"/>
            <a:ext cx="73152" cy="73152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86000" y="1645920"/>
            <a:ext cx="73152" cy="73152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560320" y="1645920"/>
            <a:ext cx="73152" cy="73152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34640" y="1645920"/>
            <a:ext cx="73152" cy="73152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286000" y="1920240"/>
            <a:ext cx="73152" cy="73152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560320" y="1920240"/>
            <a:ext cx="73152" cy="73152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834640" y="1920240"/>
            <a:ext cx="73152" cy="73152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0" y="4572000"/>
            <a:ext cx="73152" cy="73152"/>
          </a:xfrm>
          <a:prstGeom prst="ellipse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418320" y="4572000"/>
            <a:ext cx="73152" cy="73152"/>
          </a:xfrm>
          <a:prstGeom prst="ellipse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92640" y="4572000"/>
            <a:ext cx="73152" cy="73152"/>
          </a:xfrm>
          <a:prstGeom prst="ellipse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44000" y="4846320"/>
            <a:ext cx="73152" cy="73152"/>
          </a:xfrm>
          <a:prstGeom prst="ellipse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18320" y="4846320"/>
            <a:ext cx="73152" cy="73152"/>
          </a:xfrm>
          <a:prstGeom prst="ellipse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0" y="4846320"/>
            <a:ext cx="73152" cy="73152"/>
          </a:xfrm>
          <a:prstGeom prst="ellipse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0" y="5120640"/>
            <a:ext cx="73152" cy="73152"/>
          </a:xfrm>
          <a:prstGeom prst="ellipse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20" y="5120640"/>
            <a:ext cx="73152" cy="73152"/>
          </a:xfrm>
          <a:prstGeom prst="ellipse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692640" y="5120640"/>
            <a:ext cx="73152" cy="73152"/>
          </a:xfrm>
          <a:prstGeom prst="ellipse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2D3250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0" y="3017520"/>
            <a:ext cx="2103120" cy="45720"/>
          </a:xfrm>
          <a:prstGeom prst="rect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291840" y="3291840"/>
            <a:ext cx="731520" cy="731520"/>
          </a:xfrm>
          <a:prstGeom prst="ellipse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Segoe UI Emoji"/>
              </a:defRPr>
            </a:pPr>
            <a:r>
              <a:t>⏰</a:t>
            </a:r>
          </a:p>
        </p:txBody>
      </p:sp>
      <p:sp>
        <p:nvSpPr>
          <p:cNvPr id="29" name="Oval 28"/>
          <p:cNvSpPr/>
          <p:nvPr/>
        </p:nvSpPr>
        <p:spPr>
          <a:xfrm>
            <a:off x="4389120" y="3291840"/>
            <a:ext cx="731520" cy="73152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Segoe UI Emoji"/>
              </a:defRPr>
            </a:pPr>
            <a:r>
              <a:t>📅</a:t>
            </a:r>
          </a:p>
        </p:txBody>
      </p:sp>
      <p:sp>
        <p:nvSpPr>
          <p:cNvPr id="30" name="Oval 29"/>
          <p:cNvSpPr/>
          <p:nvPr/>
        </p:nvSpPr>
        <p:spPr>
          <a:xfrm>
            <a:off x="5486400" y="3291840"/>
            <a:ext cx="731520" cy="731520"/>
          </a:xfrm>
          <a:prstGeom prst="ellipse">
            <a:avLst/>
          </a:prstGeom>
          <a:solidFill>
            <a:srgbClr val="F4A3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Segoe UI Emoji"/>
              </a:defRPr>
            </a:pPr>
            <a:r>
              <a:t>🎯</a:t>
            </a:r>
          </a:p>
        </p:txBody>
      </p:sp>
      <p:sp>
        <p:nvSpPr>
          <p:cNvPr id="31" name="Oval 30"/>
          <p:cNvSpPr/>
          <p:nvPr/>
        </p:nvSpPr>
        <p:spPr>
          <a:xfrm>
            <a:off x="6583679" y="3291840"/>
            <a:ext cx="731520" cy="731520"/>
          </a:xfrm>
          <a:prstGeom prst="ellipse">
            <a:avLst/>
          </a:prstGeom>
          <a:solidFill>
            <a:srgbClr val="6E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Segoe UI Emoji"/>
              </a:defRPr>
            </a:pPr>
            <a:r>
              <a:t>📊</a:t>
            </a:r>
          </a:p>
        </p:txBody>
      </p:sp>
      <p:sp>
        <p:nvSpPr>
          <p:cNvPr id="32" name="Oval 31"/>
          <p:cNvSpPr/>
          <p:nvPr/>
        </p:nvSpPr>
        <p:spPr>
          <a:xfrm>
            <a:off x="7680960" y="3291840"/>
            <a:ext cx="731520" cy="731520"/>
          </a:xfrm>
          <a:prstGeom prst="ellipse">
            <a:avLst/>
          </a:prstGeom>
          <a:solidFill>
            <a:srgbClr val="FBBF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Segoe UI Emoji"/>
              </a:defRPr>
            </a:pPr>
            <a:r>
              <a:t>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3891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8B5CF6"/>
                </a:solidFill>
                <a:latin typeface="Calibri"/>
              </a:defRPr>
            </a:pPr>
            <a:r>
              <a:t>Any Questions?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120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882A0"/>
                </a:solidFill>
                <a:latin typeface="Calibri"/>
              </a:defRPr>
            </a:pPr>
            <a:r>
              <a:t>Time Management  |  Work Smart, Save Time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82A0"/>
                </a:solidFill>
                <a:latin typeface="Calibri"/>
              </a:defRPr>
            </a:pPr>
            <a: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